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88fae6063541ba" /><Relationship Type="http://schemas.openxmlformats.org/officeDocument/2006/relationships/extended-properties" Target="/docProps/app.xml" Id="R858e900a3e934b4d" /><Relationship Type="http://schemas.openxmlformats.org/officeDocument/2006/relationships/officeDocument" Target="/ppt/presentation.xml" Id="R4c952dca0fdb40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44396c2c941c3"/>
  </p:sldMasterIdLst>
  <p:notesMasterIdLst>
    <p:notesMasterId xmlns:r="http://schemas.openxmlformats.org/officeDocument/2006/relationships" r:id="R3c5ded5cd5934624"/>
  </p:notesMasterIdLst>
  <p:sldIdLst>
    <p:sldId xmlns:r="http://schemas.openxmlformats.org/officeDocument/2006/relationships" id="256" r:id="R98fccf7b70a04364"/>
    <p:sldId xmlns:r="http://schemas.openxmlformats.org/officeDocument/2006/relationships" id="257" r:id="R2eca8b2eaf04484c"/>
    <p:sldId xmlns:r="http://schemas.openxmlformats.org/officeDocument/2006/relationships" id="258" r:id="R6e2e96ee29034d69"/>
    <p:sldId xmlns:r="http://schemas.openxmlformats.org/officeDocument/2006/relationships" id="259" r:id="Rdc7c80ae637e488d"/>
    <p:sldId xmlns:r="http://schemas.openxmlformats.org/officeDocument/2006/relationships" id="260" r:id="R9b792f44ecd14b34"/>
    <p:sldId xmlns:r="http://schemas.openxmlformats.org/officeDocument/2006/relationships" id="261" r:id="Rb8175d39db1f472c"/>
    <p:sldId xmlns:r="http://schemas.openxmlformats.org/officeDocument/2006/relationships" id="262" r:id="R03697c008bb44ceb"/>
    <p:sldId xmlns:r="http://schemas.openxmlformats.org/officeDocument/2006/relationships" id="263" r:id="Rb6bb3f3010294f6b"/>
    <p:sldId xmlns:r="http://schemas.openxmlformats.org/officeDocument/2006/relationships" id="264" r:id="Rd2ff5d80abd04369"/>
    <p:sldId xmlns:r="http://schemas.openxmlformats.org/officeDocument/2006/relationships" id="265" r:id="Rdb46ce7957574f0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44396c2c941c3" /><Relationship Type="http://schemas.openxmlformats.org/officeDocument/2006/relationships/theme" Target="/ppt/theme/theme1.xml" Id="R50515de6a6564994" /><Relationship Type="http://schemas.openxmlformats.org/officeDocument/2006/relationships/notesMaster" Target="/ppt/notesMasters/notesMaster1.xml" Id="R3c5ded5cd5934624" /><Relationship Type="http://schemas.openxmlformats.org/officeDocument/2006/relationships/presProps" Target="/ppt/presProps.xml" Id="Rf98cfc746d8d42fd" /><Relationship Type="http://schemas.openxmlformats.org/officeDocument/2006/relationships/viewProps" Target="/ppt/viewProps.xml" Id="R9bf79be145fb414c" /><Relationship Type="http://schemas.openxmlformats.org/officeDocument/2006/relationships/tableStyles" Target="/ppt/tableStyles.xml" Id="R7629386d5f8d40a8" /><Relationship Type="http://schemas.openxmlformats.org/officeDocument/2006/relationships/slide" Target="/ppt/slides/slide1.xml" Id="R98fccf7b70a04364" /><Relationship Type="http://schemas.openxmlformats.org/officeDocument/2006/relationships/slide" Target="/ppt/slides/slide2.xml" Id="R2eca8b2eaf04484c" /><Relationship Type="http://schemas.openxmlformats.org/officeDocument/2006/relationships/slide" Target="/ppt/slides/slide3.xml" Id="R6e2e96ee29034d69" /><Relationship Type="http://schemas.openxmlformats.org/officeDocument/2006/relationships/slide" Target="/ppt/slides/slide4.xml" Id="Rdc7c80ae637e488d" /><Relationship Type="http://schemas.openxmlformats.org/officeDocument/2006/relationships/slide" Target="/ppt/slides/slide5.xml" Id="R9b792f44ecd14b34" /><Relationship Type="http://schemas.openxmlformats.org/officeDocument/2006/relationships/slide" Target="/ppt/slides/slide6.xml" Id="Rb8175d39db1f472c" /><Relationship Type="http://schemas.openxmlformats.org/officeDocument/2006/relationships/slide" Target="/ppt/slides/slide7.xml" Id="R03697c008bb44ceb" /><Relationship Type="http://schemas.openxmlformats.org/officeDocument/2006/relationships/slide" Target="/ppt/slides/slide8.xml" Id="Rb6bb3f3010294f6b" /><Relationship Type="http://schemas.openxmlformats.org/officeDocument/2006/relationships/slide" Target="/ppt/slides/slide9.xml" Id="Rd2ff5d80abd04369" /><Relationship Type="http://schemas.openxmlformats.org/officeDocument/2006/relationships/slide" Target="/ppt/slides/slide10.xml" Id="Rdb46ce7957574f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2163bfbc3e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61f70838b48cb" /><Relationship Type="http://schemas.openxmlformats.org/officeDocument/2006/relationships/notesMaster" Target="/ppt/notesMasters/notesMaster1.xml" Id="Raf17169e4e18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3fa21c6ca482f" /><Relationship Type="http://schemas.openxmlformats.org/officeDocument/2006/relationships/notesMaster" Target="/ppt/notesMasters/notesMaster1.xml" Id="Rf6b7e83a92d1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43d38d0fe44eb" /><Relationship Type="http://schemas.openxmlformats.org/officeDocument/2006/relationships/notesMaster" Target="/ppt/notesMasters/notesMaster1.xml" Id="Rc6d93e9cfa1f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3e5afe430d4846" /><Relationship Type="http://schemas.openxmlformats.org/officeDocument/2006/relationships/notesMaster" Target="/ppt/notesMasters/notesMaster1.xml" Id="R7d27da34f9ce46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5f88851a724898" /><Relationship Type="http://schemas.openxmlformats.org/officeDocument/2006/relationships/notesMaster" Target="/ppt/notesMasters/notesMaster1.xml" Id="R1095a72ac2ef47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8302d988f4433" /><Relationship Type="http://schemas.openxmlformats.org/officeDocument/2006/relationships/notesMaster" Target="/ppt/notesMasters/notesMaster1.xml" Id="Rec638d1c9474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e39f002d24dc9" /><Relationship Type="http://schemas.openxmlformats.org/officeDocument/2006/relationships/notesMaster" Target="/ppt/notesMasters/notesMaster1.xml" Id="R7fb6d05d683748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f9b9ed40964760" /><Relationship Type="http://schemas.openxmlformats.org/officeDocument/2006/relationships/notesMaster" Target="/ppt/notesMasters/notesMaster1.xml" Id="Rfee94630c88148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a353e14ad94007" /><Relationship Type="http://schemas.openxmlformats.org/officeDocument/2006/relationships/notesMaster" Target="/ppt/notesMasters/notesMaster1.xml" Id="R1895b8b41f6f40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dd4531148e43db" /><Relationship Type="http://schemas.openxmlformats.org/officeDocument/2006/relationships/notesMaster" Target="/ppt/notesMasters/notesMaster1.xml" Id="R9e9e79b02315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6844e33d748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542401bda57401b" /><Relationship Type="http://schemas.openxmlformats.org/officeDocument/2006/relationships/slideLayout" Target="/ppt/slideLayouts/slideLayout2.xml" Id="Rf154820cadd4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4820cadd4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ee77c69a746e7" /><Relationship Type="http://schemas.openxmlformats.org/officeDocument/2006/relationships/notesSlide" Target="/ppt/notesSlides/notesSlide1.xml" Id="R0a3b065749aa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962597e2640e8" /><Relationship Type="http://schemas.openxmlformats.org/officeDocument/2006/relationships/image" Target="/ppt/media/image.png" Id="R1db1221af6564a70" /><Relationship Type="http://schemas.openxmlformats.org/officeDocument/2006/relationships/notesSlide" Target="/ppt/notesSlides/notesSlide2.xml" Id="Rdcc66547f21e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0f72855bf4031" /><Relationship Type="http://schemas.openxmlformats.org/officeDocument/2006/relationships/notesSlide" Target="/ppt/notesSlides/notesSlide3.xml" Id="Rbf7dabffda7d4d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764d15cbd43f2" /><Relationship Type="http://schemas.openxmlformats.org/officeDocument/2006/relationships/notesSlide" Target="/ppt/notesSlides/notesSlide4.xml" Id="R06b4ec66858a45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d013d52884ab5" /><Relationship Type="http://schemas.openxmlformats.org/officeDocument/2006/relationships/image" Target="/ppt/media/image2.png" Id="Rf3eabebe4513495f" /><Relationship Type="http://schemas.openxmlformats.org/officeDocument/2006/relationships/notesSlide" Target="/ppt/notesSlides/notesSlide5.xml" Id="Rccad3a1766cb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52a8d233b4091" /><Relationship Type="http://schemas.openxmlformats.org/officeDocument/2006/relationships/image" Target="/ppt/media/image3.png" Id="Rd70ac655a4204ed6" /><Relationship Type="http://schemas.openxmlformats.org/officeDocument/2006/relationships/notesSlide" Target="/ppt/notesSlides/notesSlide6.xml" Id="R9bd668d7399d45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5fe5927894d12" /><Relationship Type="http://schemas.openxmlformats.org/officeDocument/2006/relationships/notesSlide" Target="/ppt/notesSlides/notesSlide7.xml" Id="R54efd1a6daeb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9356ef9204cea" /><Relationship Type="http://schemas.openxmlformats.org/officeDocument/2006/relationships/notesSlide" Target="/ppt/notesSlides/notesSlide8.xml" Id="R2d64776053b442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f0ae18d5b04eae" /><Relationship Type="http://schemas.openxmlformats.org/officeDocument/2006/relationships/notesSlide" Target="/ppt/notesSlides/notesSlide9.xml" Id="R9ac1242acb124d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ddaf71f7f41a1" /><Relationship Type="http://schemas.openxmlformats.org/officeDocument/2006/relationships/notesSlide" Target="/ppt/notesSlides/notesSlide10.xml" Id="Ra23b8a8dbe4d46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F03A3BBB-A9D9-46C7-8014-088E460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</p:spPr>
      </p:sp>
      <p:sp>
        <p:nvSpPr>
          <p:cNvPr id="2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AC6F604C-AD86-474E-A14B-C6B12498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E8C4CCD-6501-43A1-A3E3-0D1400EF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EC"/>
                </a:solidFill>
              </a:defRPr>
            </a:pPr>
            <a:r>
              <a:rPr sz="1800" b="1">
                <a:solidFill>
                  <a:srgbClr val="EAF3EC"/>
                </a:solidFill>
              </a:rPr>
              <a:t>OpenCorvus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195A36AA-DA30-496E-A0F3-2108F83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572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Technical Whitepaper · 2026.05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96923BAD-392A-4FF5-BE08-625C7922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723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OpenCorvus</a:t>
            </a:r>
          </a:p>
        </p:txBody>
      </p:sp>
      <p:sp>
        <p:nvSpPr>
          <p:cNvPr id="6" name="cover-title-cn">
            <a:extLst xmlns:a="http://schemas.openxmlformats.org/drawingml/2006/main">
              <a:ext uri="{FF2B5EF4-FFF2-40B4-BE49-F238E27FC236}">
                <a16:creationId xmlns:a16="http://schemas.microsoft.com/office/drawing/2014/main" id="{135C1006-B4B7-436B-A4E2-EE37F152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723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技术白皮书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3F4B32AD-BE51-4F83-BD8A-4E701EC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9D4"/>
          </a:solidFill>
          <a:ln xmlns:a="http://schemas.openxmlformats.org/drawingml/2006/main" w="0">
            <a:solidFill>
              <a:srgbClr val="9FC9D4"/>
            </a:solidFill>
            <a:prstDash val="solid"/>
          </a:ln>
        </p:spPr>
      </p:sp>
      <p:sp>
        <p:nvSpPr>
          <p:cNvPr id="8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7F382C6B-01C8-4BB2-853A-8D9DDE1D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2573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D8E6DF"/>
                </a:solidFill>
              </a:defRPr>
            </a:pPr>
            <a:r>
              <a:rPr sz="2175">
                <a:solidFill>
                  <a:srgbClr val="D8E6DF"/>
                </a:solidFill>
              </a:rPr>
              <a:t>用任务事实、Goal、契约与交付判决组织长周期代码交付</a:t>
            </a:r>
          </a:p>
        </p:txBody>
      </p:sp>
      <p:sp>
        <p:nvSpPr>
          <p:cNvPr id="9" name="cover-scope">
            <a:extLst xmlns:a="http://schemas.openxmlformats.org/drawingml/2006/main">
              <a:ext uri="{FF2B5EF4-FFF2-40B4-BE49-F238E27FC236}">
                <a16:creationId xmlns:a16="http://schemas.microsoft.com/office/drawing/2014/main" id="{9F010C39-8A13-48D8-82B3-51D1754F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48750"/>
            <a:ext cx="1506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Scope: database / frontend / backend / orchestration / deployment</a:t>
            </a:r>
          </a:p>
        </p:txBody>
      </p:sp>
      <p:sp>
        <p:nvSpPr>
          <p:cNvPr id="10" name="cover-license">
            <a:extLst xmlns:a="http://schemas.openxmlformats.org/drawingml/2006/main">
              <a:ext uri="{FF2B5EF4-FFF2-40B4-BE49-F238E27FC236}">
                <a16:creationId xmlns:a16="http://schemas.microsoft.com/office/drawing/2014/main" id="{5D5D481C-9C5A-451C-80A9-09B7076D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9048750"/>
            <a:ext cx="819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9C1"/>
                </a:solidFill>
              </a:defRPr>
            </a:pPr>
            <a:r>
              <a:rPr sz="1350">
                <a:solidFill>
                  <a:srgbClr val="B7C9C1"/>
                </a:solidFill>
              </a:rPr>
              <a:t>MIT License</a:t>
            </a:r>
          </a:p>
        </p:txBody>
      </p:sp>
    </p:spTree>
    <p:extLst>
      <p:ext uri="{BB962C8B-B14F-4D97-AF65-F5344CB8AC3E}">
        <p14:creationId xmlns:p14="http://schemas.microsoft.com/office/powerpoint/2010/main" val="1468818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DC65B271-EF5F-411F-A57B-4B1EB34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Problem Boundary-rule">
            <a:extLst xmlns:a="http://schemas.openxmlformats.org/drawingml/2006/main">
              <a:ext uri="{FF2B5EF4-FFF2-40B4-BE49-F238E27FC236}">
                <a16:creationId xmlns:a16="http://schemas.microsoft.com/office/drawing/2014/main" id="{1F911BA6-6874-4EE7-B3BE-0B40690B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Problem Boundary-label">
            <a:extLst xmlns:a="http://schemas.openxmlformats.org/drawingml/2006/main">
              <a:ext uri="{FF2B5EF4-FFF2-40B4-BE49-F238E27FC236}">
                <a16:creationId xmlns:a16="http://schemas.microsoft.com/office/drawing/2014/main" id="{557CAB4C-9E64-4A3F-A3BA-188A7BE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Problem Boundary</a:t>
            </a:r>
          </a:p>
        </p:txBody>
      </p:sp>
      <p:sp>
        <p:nvSpPr>
          <p:cNvPr id="4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AB9463B-163A-4192-B3B8-A90888A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23444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问题边界：不是一次补全，而是可继续推进的代码交付任务</a:t>
            </a:r>
          </a:p>
        </p:txBody>
      </p:sp>
      <p:sp>
        <p:nvSpPr>
          <p:cNvPr id="5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21E7C1AA-B883-4ADC-95A4-AA45129B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486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模型输出只是事实链中的一类材料；需求、Goal、契约、审计和用户后续消息都必须保留。</a:t>
            </a:r>
          </a:p>
        </p:txBody>
      </p:sp>
      <p:sp>
        <p:nvSpPr>
          <p:cNvPr id="6" name="problem-b1-mark">
            <a:extLst xmlns:a="http://schemas.openxmlformats.org/drawingml/2006/main">
              <a:ext uri="{FF2B5EF4-FFF2-40B4-BE49-F238E27FC236}">
                <a16:creationId xmlns:a16="http://schemas.microsoft.com/office/drawing/2014/main" id="{B49CF9A0-E8BB-4226-86FB-DE0B3ED2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7" name="problem-b1">
            <a:extLst xmlns:a="http://schemas.openxmlformats.org/drawingml/2006/main">
              <a:ext uri="{FF2B5EF4-FFF2-40B4-BE49-F238E27FC236}">
                <a16:creationId xmlns:a16="http://schemas.microsoft.com/office/drawing/2014/main" id="{6EFEA953-616C-4231-87F0-69850A66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6686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用户请求、意图分析、需求条目、架构 Goal、Acceptance Spec、构建结果和交付判决进入同一任务上下文。</a:t>
            </a:r>
          </a:p>
        </p:txBody>
      </p:sp>
      <p:sp>
        <p:nvSpPr>
          <p:cNvPr id="8" name="problem-b2-mark">
            <a:extLst xmlns:a="http://schemas.openxmlformats.org/drawingml/2006/main">
              <a:ext uri="{FF2B5EF4-FFF2-40B4-BE49-F238E27FC236}">
                <a16:creationId xmlns:a16="http://schemas.microsoft.com/office/drawing/2014/main" id="{18994A2A-2FE6-46FC-8918-0414825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3"/>
          </a:solidFill>
        </p:spPr>
      </p:sp>
      <p:sp>
        <p:nvSpPr>
          <p:cNvPr id="9" name="problem-b2">
            <a:extLst xmlns:a="http://schemas.openxmlformats.org/drawingml/2006/main">
              <a:ext uri="{FF2B5EF4-FFF2-40B4-BE49-F238E27FC236}">
                <a16:creationId xmlns:a16="http://schemas.microsoft.com/office/drawing/2014/main" id="{BAD757A7-44FD-482F-8267-92F7074D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6686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Orchestrator 每次唤醒时读取事实并选择工具，任务生命周期不依赖代码层硬编码状态机。</a:t>
            </a:r>
          </a:p>
        </p:txBody>
      </p:sp>
      <p:sp>
        <p:nvSpPr>
          <p:cNvPr id="10" name="problem-b3-mark">
            <a:extLst xmlns:a="http://schemas.openxmlformats.org/drawingml/2006/main">
              <a:ext uri="{FF2B5EF4-FFF2-40B4-BE49-F238E27FC236}">
                <a16:creationId xmlns:a16="http://schemas.microsoft.com/office/drawing/2014/main" id="{FED9277C-8EF3-4DDA-B06E-549E9BB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7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12"/>
          </a:solidFill>
        </p:spPr>
      </p:sp>
      <p:sp>
        <p:nvSpPr>
          <p:cNvPr id="11" name="problem-b3">
            <a:extLst xmlns:a="http://schemas.openxmlformats.org/drawingml/2006/main">
              <a:ext uri="{FF2B5EF4-FFF2-40B4-BE49-F238E27FC236}">
                <a16:creationId xmlns:a16="http://schemas.microsoft.com/office/drawing/2014/main" id="{064A80D0-B835-4268-8208-5E21BC63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877050"/>
            <a:ext cx="6686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用户消息是继续推进任务的真实事件；不能清空上下文，也不能要求用户重新发起任务。</a:t>
            </a:r>
          </a:p>
        </p:txBody>
      </p:sp>
      <p:pic>
        <p:nvPicPr>
          <p:cNvPr id="12" name="agent-comparison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1221af6564a70"/>
          <a:stretch xmlns:a="http://schemas.openxmlformats.org/drawingml/2006/main"/>
        </p:blipFill>
        <p:spPr>
          <a:xfrm xmlns:a="http://schemas.openxmlformats.org/drawingml/2006/main">
            <a:off x="8937085" y="3329940"/>
            <a:ext cx="7752080" cy="5814060"/>
          </a:xfrm>
          <a:prstGeom xmlns:a="http://schemas.openxmlformats.org/drawingml/2006/main" prst="rect">
            <a:avLst/>
          </a:prstGeom>
        </p:spPr>
      </p:pic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15017ED7-EF42-45F2-AB58-B44DB61E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01 and assets/agent-comparison.png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C3EAF009-017B-4820-BC1F-8CA1F82E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62590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ED3992A7-504A-4B44-85D1-D890AF6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Engineering Scale-rule">
            <a:extLst xmlns:a="http://schemas.openxmlformats.org/drawingml/2006/main">
              <a:ext uri="{FF2B5EF4-FFF2-40B4-BE49-F238E27FC236}">
                <a16:creationId xmlns:a16="http://schemas.microsoft.com/office/drawing/2014/main" id="{A4D4B10F-136C-498E-AF75-B6A17D39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Engineering Scale-label">
            <a:extLst xmlns:a="http://schemas.openxmlformats.org/drawingml/2006/main">
              <a:ext uri="{FF2B5EF4-FFF2-40B4-BE49-F238E27FC236}">
                <a16:creationId xmlns:a16="http://schemas.microsoft.com/office/drawing/2014/main" id="{8B7F8279-E164-4F8F-B754-69074660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Engineering Scale</a:t>
            </a:r>
          </a:p>
        </p:txBody>
      </p:sp>
      <p:sp>
        <p:nvSpPr>
          <p:cNvPr id="4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5AE7EF4F-E185-4DAF-ADF0-1B21EE3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9772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规模数据用于界定工程面，而不是制造排名</a:t>
            </a:r>
          </a:p>
        </p:txBody>
      </p:sp>
      <p:sp>
        <p:nvSpPr>
          <p:cNvPr id="5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B80FC450-06C6-4B19-93B5-B370841F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8401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OpenCorvus fork 自 sst/opencode；全仓历史与 OpenCorvus 自身路径贡献分开看。</a:t>
            </a:r>
          </a:p>
        </p:txBody>
      </p:sp>
      <p:sp>
        <p:nvSpPr>
          <p:cNvPr id="6" name="m1-panel">
            <a:extLst xmlns:a="http://schemas.openxmlformats.org/drawingml/2006/main">
              <a:ext uri="{FF2B5EF4-FFF2-40B4-BE49-F238E27FC236}">
                <a16:creationId xmlns:a16="http://schemas.microsoft.com/office/drawing/2014/main" id="{D9ED62DD-7AE5-450D-A52E-F9F13943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2720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m1-value">
            <a:extLst xmlns:a="http://schemas.openxmlformats.org/drawingml/2006/main">
              <a:ext uri="{FF2B5EF4-FFF2-40B4-BE49-F238E27FC236}">
                <a16:creationId xmlns:a16="http://schemas.microsoft.com/office/drawing/2014/main" id="{5E976E24-50F9-48CC-B36F-18855ACB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1,507</a:t>
            </a:r>
          </a:p>
        </p:txBody>
      </p:sp>
      <p:sp>
        <p:nvSpPr>
          <p:cNvPr id="8" name="m1-label">
            <a:extLst xmlns:a="http://schemas.openxmlformats.org/drawingml/2006/main">
              <a:ext uri="{FF2B5EF4-FFF2-40B4-BE49-F238E27FC236}">
                <a16:creationId xmlns:a16="http://schemas.microsoft.com/office/drawing/2014/main" id="{83ECC43A-19E2-49E6-B748-5E7FEFA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packages/opencorvus commits</a:t>
            </a:r>
          </a:p>
        </p:txBody>
      </p:sp>
      <p:sp>
        <p:nvSpPr>
          <p:cNvPr id="9" name="m1-note">
            <a:extLst xmlns:a="http://schemas.openxmlformats.org/drawingml/2006/main">
              <a:ext uri="{FF2B5EF4-FFF2-40B4-BE49-F238E27FC236}">
                <a16:creationId xmlns:a16="http://schemas.microsoft.com/office/drawing/2014/main" id="{05FB151A-4B75-49BF-B8C5-276D040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路径相关 commit，不计 fork 前上游历史</a:t>
            </a:r>
          </a:p>
        </p:txBody>
      </p:sp>
      <p:sp>
        <p:nvSpPr>
          <p:cNvPr id="10" name="m2-panel">
            <a:extLst xmlns:a="http://schemas.openxmlformats.org/drawingml/2006/main">
              <a:ext uri="{FF2B5EF4-FFF2-40B4-BE49-F238E27FC236}">
                <a16:creationId xmlns:a16="http://schemas.microsoft.com/office/drawing/2014/main" id="{E4B05797-7F71-44CD-8F9E-AC4808E8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2712720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m2-value">
            <a:extLst xmlns:a="http://schemas.openxmlformats.org/drawingml/2006/main">
              <a:ext uri="{FF2B5EF4-FFF2-40B4-BE49-F238E27FC236}">
                <a16:creationId xmlns:a16="http://schemas.microsoft.com/office/drawing/2014/main" id="{223B29B1-ED5E-4E04-930A-311D468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196</a:t>
            </a:r>
          </a:p>
        </p:txBody>
      </p:sp>
      <p:sp>
        <p:nvSpPr>
          <p:cNvPr id="12" name="m2-label">
            <a:extLst xmlns:a="http://schemas.openxmlformats.org/drawingml/2006/main">
              <a:ext uri="{FF2B5EF4-FFF2-40B4-BE49-F238E27FC236}">
                <a16:creationId xmlns:a16="http://schemas.microsoft.com/office/drawing/2014/main" id="{CDCC1E9E-3BE2-4EDD-AF15-A5BF6934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196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2026-W20 core commits</a:t>
            </a:r>
          </a:p>
        </p:txBody>
      </p:sp>
      <p:sp>
        <p:nvSpPr>
          <p:cNvPr id="13" name="m2-note">
            <a:extLst xmlns:a="http://schemas.openxmlformats.org/drawingml/2006/main">
              <a:ext uri="{FF2B5EF4-FFF2-40B4-BE49-F238E27FC236}">
                <a16:creationId xmlns:a16="http://schemas.microsoft.com/office/drawing/2014/main" id="{BD086F19-6853-4760-BA98-81625C37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483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范围含 core / overlay / channel-runtime / docs</a:t>
            </a:r>
          </a:p>
        </p:txBody>
      </p:sp>
      <p:sp>
        <p:nvSpPr>
          <p:cNvPr id="14" name="m3-panel">
            <a:extLst xmlns:a="http://schemas.openxmlformats.org/drawingml/2006/main">
              <a:ext uri="{FF2B5EF4-FFF2-40B4-BE49-F238E27FC236}">
                <a16:creationId xmlns:a16="http://schemas.microsoft.com/office/drawing/2014/main" id="{7DD94ED6-C994-41C3-B987-1A99FF5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12720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m3-value">
            <a:extLst xmlns:a="http://schemas.openxmlformats.org/drawingml/2006/main">
              <a:ext uri="{FF2B5EF4-FFF2-40B4-BE49-F238E27FC236}">
                <a16:creationId xmlns:a16="http://schemas.microsoft.com/office/drawing/2014/main" id="{E3E3BF8B-9A72-4548-900D-2E261D4D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146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8A5A12"/>
                </a:solidFill>
              </a:defRPr>
            </a:pPr>
            <a:r>
              <a:rPr sz="4650" b="1">
                <a:solidFill>
                  <a:srgbClr val="8A5A12"/>
                </a:solidFill>
              </a:rPr>
              <a:t>44</a:t>
            </a:r>
          </a:p>
        </p:txBody>
      </p:sp>
      <p:sp>
        <p:nvSpPr>
          <p:cNvPr id="16" name="m3-label">
            <a:extLst xmlns:a="http://schemas.openxmlformats.org/drawingml/2006/main">
              <a:ext uri="{FF2B5EF4-FFF2-40B4-BE49-F238E27FC236}">
                <a16:creationId xmlns:a16="http://schemas.microsoft.com/office/drawing/2014/main" id="{D857B159-E6C1-43D0-BFB0-CFE285F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196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SQLite tables</a:t>
            </a:r>
          </a:p>
        </p:txBody>
      </p:sp>
      <p:sp>
        <p:nvSpPr>
          <p:cNvPr id="17" name="m3-note">
            <a:extLst xmlns:a="http://schemas.openxmlformats.org/drawingml/2006/main">
              <a:ext uri="{FF2B5EF4-FFF2-40B4-BE49-F238E27FC236}">
                <a16:creationId xmlns:a16="http://schemas.microsoft.com/office/drawing/2014/main" id="{43C2D44E-7F08-41CD-82EC-872B9A5E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集中定义于 storage/ddl.ts</a:t>
            </a:r>
          </a:p>
        </p:txBody>
      </p:sp>
      <p:sp>
        <p:nvSpPr>
          <p:cNvPr id="18" name="m4-panel">
            <a:extLst xmlns:a="http://schemas.openxmlformats.org/drawingml/2006/main">
              <a:ext uri="{FF2B5EF4-FFF2-40B4-BE49-F238E27FC236}">
                <a16:creationId xmlns:a16="http://schemas.microsoft.com/office/drawing/2014/main" id="{03586576-C894-450D-B92D-9F7F973E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2712720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m4-value">
            <a:extLst xmlns:a="http://schemas.openxmlformats.org/drawingml/2006/main">
              <a:ext uri="{FF2B5EF4-FFF2-40B4-BE49-F238E27FC236}">
                <a16:creationId xmlns:a16="http://schemas.microsoft.com/office/drawing/2014/main" id="{CC6BC17F-48E1-4BC1-8E17-F8B03D7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9146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F3434"/>
                </a:solidFill>
              </a:defRPr>
            </a:pPr>
            <a:r>
              <a:rPr sz="4650" b="1">
                <a:solidFill>
                  <a:srgbClr val="9F3434"/>
                </a:solidFill>
              </a:rPr>
              <a:t>21</a:t>
            </a:r>
          </a:p>
        </p:txBody>
      </p:sp>
      <p:sp>
        <p:nvSpPr>
          <p:cNvPr id="20" name="m4-label">
            <a:extLst xmlns:a="http://schemas.openxmlformats.org/drawingml/2006/main">
              <a:ext uri="{FF2B5EF4-FFF2-40B4-BE49-F238E27FC236}">
                <a16:creationId xmlns:a16="http://schemas.microsoft.com/office/drawing/2014/main" id="{A306542C-7B83-411D-8E4C-1C4EA8E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4196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Orchestrator tools</a:t>
            </a:r>
          </a:p>
        </p:txBody>
      </p:sp>
      <p:sp>
        <p:nvSpPr>
          <p:cNvPr id="21" name="m4-note">
            <a:extLst xmlns:a="http://schemas.openxmlformats.org/drawingml/2006/main">
              <a:ext uri="{FF2B5EF4-FFF2-40B4-BE49-F238E27FC236}">
                <a16:creationId xmlns:a16="http://schemas.microsoft.com/office/drawing/2014/main" id="{0C9EF1F4-8437-4C47-9877-A4E4FB52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4483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真实工具名来自 orchestrator/tools.ts</a:t>
            </a:r>
          </a:p>
        </p:txBody>
      </p:sp>
      <p:sp>
        <p:nvSpPr>
          <p:cNvPr id="22" name="m5-panel">
            <a:extLst xmlns:a="http://schemas.openxmlformats.org/drawingml/2006/main">
              <a:ext uri="{FF2B5EF4-FFF2-40B4-BE49-F238E27FC236}">
                <a16:creationId xmlns:a16="http://schemas.microsoft.com/office/drawing/2014/main" id="{65F93594-292F-4580-97A4-F275CF3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4085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3" name="m5-value">
            <a:extLst xmlns:a="http://schemas.openxmlformats.org/drawingml/2006/main">
              <a:ext uri="{FF2B5EF4-FFF2-40B4-BE49-F238E27FC236}">
                <a16:creationId xmlns:a16="http://schemas.microsoft.com/office/drawing/2014/main" id="{FAD99F33-DB54-48A2-9DE2-F93589A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9</a:t>
            </a:r>
          </a:p>
        </p:txBody>
      </p:sp>
      <p:sp>
        <p:nvSpPr>
          <p:cNvPr id="24" name="m5-label">
            <a:extLst xmlns:a="http://schemas.openxmlformats.org/drawingml/2006/main">
              <a:ext uri="{FF2B5EF4-FFF2-40B4-BE49-F238E27FC236}">
                <a16:creationId xmlns:a16="http://schemas.microsoft.com/office/drawing/2014/main" id="{B88BD87D-5F72-4929-B0AF-289EC1B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7152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Agent entries</a:t>
            </a:r>
          </a:p>
        </p:txBody>
      </p:sp>
      <p:sp>
        <p:nvSpPr>
          <p:cNvPr id="25" name="m5-note">
            <a:extLst xmlns:a="http://schemas.openxmlformats.org/drawingml/2006/main">
              <a:ext uri="{FF2B5EF4-FFF2-40B4-BE49-F238E27FC236}">
                <a16:creationId xmlns:a16="http://schemas.microsoft.com/office/drawing/2014/main" id="{BB59A513-AB46-4A11-B15A-B053A93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439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外向 Agent 入口与核心 prompt</a:t>
            </a:r>
          </a:p>
        </p:txBody>
      </p:sp>
      <p:sp>
        <p:nvSpPr>
          <p:cNvPr id="26" name="m6-panel">
            <a:extLst xmlns:a="http://schemas.openxmlformats.org/drawingml/2006/main">
              <a:ext uri="{FF2B5EF4-FFF2-40B4-BE49-F238E27FC236}">
                <a16:creationId xmlns:a16="http://schemas.microsoft.com/office/drawing/2014/main" id="{8775DD2F-D644-415E-943F-B2EE652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6014085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m6-value">
            <a:extLst xmlns:a="http://schemas.openxmlformats.org/drawingml/2006/main">
              <a:ext uri="{FF2B5EF4-FFF2-40B4-BE49-F238E27FC236}">
                <a16:creationId xmlns:a16="http://schemas.microsoft.com/office/drawing/2014/main" id="{B343EC24-375C-4C26-BD08-56A4BD3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2293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15</a:t>
            </a:r>
          </a:p>
        </p:txBody>
      </p:sp>
      <p:sp>
        <p:nvSpPr>
          <p:cNvPr id="28" name="m6-label">
            <a:extLst xmlns:a="http://schemas.openxmlformats.org/drawingml/2006/main">
              <a:ext uri="{FF2B5EF4-FFF2-40B4-BE49-F238E27FC236}">
                <a16:creationId xmlns:a16="http://schemas.microsoft.com/office/drawing/2014/main" id="{DB782A8E-21F3-4C51-9A9C-37FE139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7152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Channel adapters</a:t>
            </a:r>
          </a:p>
        </p:txBody>
      </p:sp>
      <p:sp>
        <p:nvSpPr>
          <p:cNvPr id="29" name="m6-note">
            <a:extLst xmlns:a="http://schemas.openxmlformats.org/drawingml/2006/main">
              <a:ext uri="{FF2B5EF4-FFF2-40B4-BE49-F238E27FC236}">
                <a16:creationId xmlns:a16="http://schemas.microsoft.com/office/drawing/2014/main" id="{994E58EF-9A4D-4BD8-9880-F92B192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7439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覆盖 http、slack、telegram、wecom 等</a:t>
            </a:r>
          </a:p>
        </p:txBody>
      </p:sp>
      <p:sp>
        <p:nvSpPr>
          <p:cNvPr id="30" name="m7-panel">
            <a:extLst xmlns:a="http://schemas.openxmlformats.org/drawingml/2006/main">
              <a:ext uri="{FF2B5EF4-FFF2-40B4-BE49-F238E27FC236}">
                <a16:creationId xmlns:a16="http://schemas.microsoft.com/office/drawing/2014/main" id="{6DD1304F-3B31-4E79-95D2-31141C6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014085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m7-value">
            <a:extLst xmlns:a="http://schemas.openxmlformats.org/drawingml/2006/main">
              <a:ext uri="{FF2B5EF4-FFF2-40B4-BE49-F238E27FC236}">
                <a16:creationId xmlns:a16="http://schemas.microsoft.com/office/drawing/2014/main" id="{2A8EC43E-FA5E-4B8D-B719-A5E0DA5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293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8A5A12"/>
                </a:solidFill>
              </a:defRPr>
            </a:pPr>
            <a:r>
              <a:rPr sz="4650" b="1">
                <a:solidFill>
                  <a:srgbClr val="8A5A12"/>
                </a:solidFill>
              </a:rPr>
              <a:t>76</a:t>
            </a:r>
          </a:p>
        </p:txBody>
      </p:sp>
      <p:sp>
        <p:nvSpPr>
          <p:cNvPr id="32" name="m7-label">
            <a:extLst xmlns:a="http://schemas.openxmlformats.org/drawingml/2006/main">
              <a:ext uri="{FF2B5EF4-FFF2-40B4-BE49-F238E27FC236}">
                <a16:creationId xmlns:a16="http://schemas.microsoft.com/office/drawing/2014/main" id="{3C57F04A-76ED-4CE7-9919-9E046C85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7152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Overlay TSX files</a:t>
            </a:r>
          </a:p>
        </p:txBody>
      </p:sp>
      <p:sp>
        <p:nvSpPr>
          <p:cNvPr id="33" name="m7-note">
            <a:extLst xmlns:a="http://schemas.openxmlformats.org/drawingml/2006/main">
              <a:ext uri="{FF2B5EF4-FFF2-40B4-BE49-F238E27FC236}">
                <a16:creationId xmlns:a16="http://schemas.microsoft.com/office/drawing/2014/main" id="{D4617103-81B4-4F94-B972-A587527B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7439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.ts + .tsx 合计 177</a:t>
            </a:r>
          </a:p>
        </p:txBody>
      </p:sp>
      <p:sp>
        <p:nvSpPr>
          <p:cNvPr id="34" name="m8-panel">
            <a:extLst xmlns:a="http://schemas.openxmlformats.org/drawingml/2006/main">
              <a:ext uri="{FF2B5EF4-FFF2-40B4-BE49-F238E27FC236}">
                <a16:creationId xmlns:a16="http://schemas.microsoft.com/office/drawing/2014/main" id="{47E6AC49-0A58-4C1B-958C-B51D0A1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6014085"/>
            <a:ext cx="4005263" cy="3129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5" name="m8-value">
            <a:extLst xmlns:a="http://schemas.openxmlformats.org/drawingml/2006/main">
              <a:ext uri="{FF2B5EF4-FFF2-40B4-BE49-F238E27FC236}">
                <a16:creationId xmlns:a16="http://schemas.microsoft.com/office/drawing/2014/main" id="{A560E8FB-1646-42B6-BCB6-C3426D1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229350"/>
            <a:ext cx="3543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F3434"/>
                </a:solidFill>
              </a:defRPr>
            </a:pPr>
            <a:r>
              <a:rPr sz="4650" b="1">
                <a:solidFill>
                  <a:srgbClr val="9F3434"/>
                </a:solidFill>
              </a:rPr>
              <a:t>3</a:t>
            </a:r>
          </a:p>
        </p:txBody>
      </p:sp>
      <p:sp>
        <p:nvSpPr>
          <p:cNvPr id="36" name="m8-label">
            <a:extLst xmlns:a="http://schemas.openxmlformats.org/drawingml/2006/main">
              <a:ext uri="{FF2B5EF4-FFF2-40B4-BE49-F238E27FC236}">
                <a16:creationId xmlns:a16="http://schemas.microsoft.com/office/drawing/2014/main" id="{B4DAFFCF-2F72-438B-9196-824E62BF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7152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Executor ids</a:t>
            </a:r>
          </a:p>
        </p:txBody>
      </p:sp>
      <p:sp>
        <p:nvSpPr>
          <p:cNvPr id="37" name="m8-note">
            <a:extLst xmlns:a="http://schemas.openxmlformats.org/drawingml/2006/main">
              <a:ext uri="{FF2B5EF4-FFF2-40B4-BE49-F238E27FC236}">
                <a16:creationId xmlns:a16="http://schemas.microsoft.com/office/drawing/2014/main" id="{841D28DD-C364-4341-8EEB-0A9DE6A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7439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opencorvus / codex / claude-code</a:t>
            </a:r>
          </a:p>
        </p:txBody>
      </p:sp>
      <p:sp>
        <p:nvSpPr>
          <p:cNvPr id="38" name="source-3">
            <a:extLst xmlns:a="http://schemas.openxmlformats.org/drawingml/2006/main">
              <a:ext uri="{FF2B5EF4-FFF2-40B4-BE49-F238E27FC236}">
                <a16:creationId xmlns:a16="http://schemas.microsoft.com/office/drawing/2014/main" id="{EB4288C5-F344-418E-A055-7DAED64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repository grep and git log verification captured in docs/whitepaper/CODEX-REWORK-PLAN.md</a:t>
            </a:r>
          </a:p>
        </p:txBody>
      </p:sp>
      <p:sp>
        <p:nvSpPr>
          <p:cNvPr id="39" name="page-3">
            <a:extLst xmlns:a="http://schemas.openxmlformats.org/drawingml/2006/main">
              <a:ext uri="{FF2B5EF4-FFF2-40B4-BE49-F238E27FC236}">
                <a16:creationId xmlns:a16="http://schemas.microsoft.com/office/drawing/2014/main" id="{C2CBD097-D2D4-4C02-BD27-4EE4E75F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26596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79DA9C2-00D7-4D94-B5FB-441644CD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Positioning-rule">
            <a:extLst xmlns:a="http://schemas.openxmlformats.org/drawingml/2006/main">
              <a:ext uri="{FF2B5EF4-FFF2-40B4-BE49-F238E27FC236}">
                <a16:creationId xmlns:a16="http://schemas.microsoft.com/office/drawing/2014/main" id="{68E94851-C256-4942-B073-52E3CC7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Positioning-label">
            <a:extLst xmlns:a="http://schemas.openxmlformats.org/drawingml/2006/main">
              <a:ext uri="{FF2B5EF4-FFF2-40B4-BE49-F238E27FC236}">
                <a16:creationId xmlns:a16="http://schemas.microsoft.com/office/drawing/2014/main" id="{3E836366-96C0-44E9-9A81-C000DE2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Positioning</a:t>
            </a:r>
          </a:p>
        </p:txBody>
      </p:sp>
      <p:sp>
        <p:nvSpPr>
          <p:cNvPr id="4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6F680277-1FD7-415A-952F-041140E7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251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同类定位：OpenCorvus 是编排层，不是另一个单点编码 Agent</a:t>
            </a:r>
          </a:p>
        </p:txBody>
      </p:sp>
      <p:sp>
        <p:nvSpPr>
          <p:cNvPr id="5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DFB765EE-DF4E-4B5C-94B0-54659730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06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外部编码 Agent 负责生成和执行；OpenCorvus 负责任务事实、契约、审计和交付闭环。</a:t>
            </a:r>
          </a:p>
        </p:txBody>
      </p:sp>
      <p:graphicFrame>
        <p:nvGraphicFramePr>
          <p:cNvPr id="6" name="positioning-table"/>
          <p:cNvGraphicFramePr/>
          <p:nvPr/>
        </p:nvGraphicFramePr>
        <p:xfrm>
          <a:off xmlns:a="http://schemas.openxmlformats.org/drawingml/2006/main" x="876300" y="3329940"/>
          <a:ext xmlns:a="http://schemas.openxmlformats.org/drawingml/2006/main" cx="16535400" cy="5814060"/>
        </p:xfrm>
        <a:graphic xmlns:a="http://schemas.openxmlformats.org/drawingml/2006/main">
          <a:graphicData uri="http://schemas.openxmlformats.org/drawingml/2006/table">
            <a:tbl>
              <a:tblPr bandRow="1"/>
              <a:tblGrid>
                <a:gridCol w="5511800"/>
                <a:gridCol w="5511800"/>
                <a:gridCol w="5511800"/>
              </a:tblGrid>
              <a:tr h="969010">
                <a:tc>
                  <a:txBody>
                    <a:bodyPr/>
                    <a:lstStyle/>
                    <a:p>
                      <a:r>
                        <a:rPr/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主要入口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OpenCorvus 对照视角</a:t>
                      </a:r>
                    </a:p>
                  </a:txBody>
                  <a:tcPr marL="91440" marR="91440" marT="45720" marB="45720"/>
                </a:tc>
              </a:tr>
              <a:tr h="969010">
                <a:tc>
                  <a:txBody>
                    <a:bodyPr/>
                    <a:lstStyle/>
                    <a:p>
                      <a:r>
                        <a:rPr/>
                        <a:t>sst/opencode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终端原生编码 Agent 与 TUI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保留 fork 血缘，重心转向任务编排、Goal、审计与 Overlay。</a:t>
                      </a:r>
                    </a:p>
                  </a:txBody>
                  <a:tcPr marL="91440" marR="91440" marT="45720" marB="45720"/>
                </a:tc>
              </a:tr>
              <a:tr h="969010">
                <a:tc>
                  <a:txBody>
                    <a:bodyPr/>
                    <a:lstStyle/>
                    <a:p>
                      <a:r>
                        <a:rPr/>
                        <a:t>Claude Code / Codex CLI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终端、IDE 或本地 CLI 执行器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适合作为强执行器；产出进入任务事实链并接受后续验收。</a:t>
                      </a:r>
                    </a:p>
                  </a:txBody>
                  <a:tcPr marL="91440" marR="91440" marT="45720" marB="45720"/>
                </a:tc>
              </a:tr>
              <a:tr h="969010">
                <a:tc>
                  <a:txBody>
                    <a:bodyPr/>
                    <a:lstStyle/>
                    <a:p>
                      <a:r>
                        <a:rPr/>
                        <a:t>aider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本地仓库 pair programming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更偏人工协作式编辑；OpenCorvus 额外强调持久化和交付判决。</a:t>
                      </a:r>
                    </a:p>
                  </a:txBody>
                  <a:tcPr marL="91440" marR="91440" marT="45720" marB="45720"/>
                </a:tc>
              </a:tr>
              <a:tr h="969010">
                <a:tc>
                  <a:txBody>
                    <a:bodyPr/>
                    <a:lstStyle/>
                    <a:p>
                      <a:r>
                        <a:rPr/>
                        <a:t>cline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IDE 内 autonomous coding 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适合 IDE 内逐步授权；OpenCorvus 控制面在 Overlay / HTTP / 通道层。</a:t>
                      </a:r>
                    </a:p>
                  </a:txBody>
                  <a:tcPr marL="91440" marR="91440" marT="45720" marB="45720"/>
                </a:tc>
              </a:tr>
              <a:tr h="969010">
                <a:tc>
                  <a:txBody>
                    <a:bodyPr/>
                    <a:lstStyle/>
                    <a:p>
                      <a:r>
                        <a:rPr/>
                        <a:t>OpenClaw 类平台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跨应用个人自动化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覆盖面更宽；OpenCorvus 收窄到代码仓库交付任务。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source-4">
            <a:extLst xmlns:a="http://schemas.openxmlformats.org/drawingml/2006/main">
              <a:ext uri="{FF2B5EF4-FFF2-40B4-BE49-F238E27FC236}">
                <a16:creationId xmlns:a16="http://schemas.microsoft.com/office/drawing/2014/main" id="{1A25E216-B11F-47A9-95B1-C3FF704F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03; public project positioning references in HTML footer</a:t>
            </a:r>
          </a:p>
        </p:txBody>
      </p:sp>
      <p:sp>
        <p:nvSpPr>
          <p:cNvPr id="8" name="page-4">
            <a:extLst xmlns:a="http://schemas.openxmlformats.org/drawingml/2006/main">
              <a:ext uri="{FF2B5EF4-FFF2-40B4-BE49-F238E27FC236}">
                <a16:creationId xmlns:a16="http://schemas.microsoft.com/office/drawing/2014/main" id="{98F6B9EB-283B-4D82-B13F-EA16EE5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81321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4CAC1649-CB27-499A-A021-5FCF8E7A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Orchestration-rule">
            <a:extLst xmlns:a="http://schemas.openxmlformats.org/drawingml/2006/main">
              <a:ext uri="{FF2B5EF4-FFF2-40B4-BE49-F238E27FC236}">
                <a16:creationId xmlns:a16="http://schemas.microsoft.com/office/drawing/2014/main" id="{039BAF74-EBEB-4375-9D3F-C6B82A95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Orchestration-label">
            <a:extLst xmlns:a="http://schemas.openxmlformats.org/drawingml/2006/main">
              <a:ext uri="{FF2B5EF4-FFF2-40B4-BE49-F238E27FC236}">
                <a16:creationId xmlns:a16="http://schemas.microsoft.com/office/drawing/2014/main" id="{C0542E23-B51E-4C29-9882-0B03ACF2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Orchestration</a:t>
            </a:r>
          </a:p>
        </p:txBody>
      </p:sp>
      <p:sp>
        <p:nvSpPr>
          <p:cNvPr id="4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89E3897E-0599-4995-B7A0-A0780C8F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0915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编排框架：21 个工具围绕同一任务事实集合工作</a:t>
            </a:r>
          </a:p>
        </p:txBody>
      </p:sp>
      <p:sp>
        <p:nvSpPr>
          <p:cNvPr id="5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B9A5AB72-BD77-49F4-A65F-DF9D056C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7772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对外 Agent、SessionKind 和工具入口是三个不同层次，不能混为一组枚举。</a:t>
            </a:r>
          </a:p>
        </p:txBody>
      </p:sp>
      <p:sp>
        <p:nvSpPr>
          <p:cNvPr id="6" name="tool-count">
            <a:extLst xmlns:a="http://schemas.openxmlformats.org/drawingml/2006/main">
              <a:ext uri="{FF2B5EF4-FFF2-40B4-BE49-F238E27FC236}">
                <a16:creationId xmlns:a16="http://schemas.microsoft.com/office/drawing/2014/main" id="{2F76CC3D-6C62-456D-B9EE-3FD02872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2720"/>
            <a:ext cx="7700486" cy="1150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tool-count-num">
            <a:extLst xmlns:a="http://schemas.openxmlformats.org/drawingml/2006/main">
              <a:ext uri="{FF2B5EF4-FFF2-40B4-BE49-F238E27FC236}">
                <a16:creationId xmlns:a16="http://schemas.microsoft.com/office/drawing/2014/main" id="{68F374B0-49ED-4F18-B301-BC65AAF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1066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D5F78"/>
                </a:solidFill>
              </a:defRPr>
            </a:pPr>
            <a:r>
              <a:rPr sz="4800" b="1">
                <a:solidFill>
                  <a:srgbClr val="1D5F78"/>
                </a:solidFill>
              </a:rPr>
              <a:t>21</a:t>
            </a:r>
          </a:p>
        </p:txBody>
      </p:sp>
      <p:sp>
        <p:nvSpPr>
          <p:cNvPr id="8" name="tool-count-copy">
            <a:extLst xmlns:a="http://schemas.openxmlformats.org/drawingml/2006/main">
              <a:ext uri="{FF2B5EF4-FFF2-40B4-BE49-F238E27FC236}">
                <a16:creationId xmlns:a16="http://schemas.microsoft.com/office/drawing/2014/main" id="{E305DFA3-91DB-4EC4-BDB1-AF3DD95B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48000"/>
            <a:ext cx="596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1A17"/>
                </a:solidFill>
              </a:defRPr>
            </a:pPr>
            <a:r>
              <a:rPr sz="1650">
                <a:solidFill>
                  <a:srgbClr val="171A17"/>
                </a:solidFill>
              </a:rPr>
              <a:t>Orchestrator tool calls, including requirements, architect, build, integrity, deliver, refine, retry_task and steer_subagent.</a:t>
            </a:r>
          </a:p>
        </p:txBody>
      </p:sp>
      <p:sp>
        <p:nvSpPr>
          <p:cNvPr id="9" name="orch-b1-mark">
            <a:extLst xmlns:a="http://schemas.openxmlformats.org/drawingml/2006/main">
              <a:ext uri="{FF2B5EF4-FFF2-40B4-BE49-F238E27FC236}">
                <a16:creationId xmlns:a16="http://schemas.microsoft.com/office/drawing/2014/main" id="{F1547C8D-B1D3-4B68-92CB-59632E6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10" name="orch-b1">
            <a:extLst xmlns:a="http://schemas.openxmlformats.org/drawingml/2006/main">
              <a:ext uri="{FF2B5EF4-FFF2-40B4-BE49-F238E27FC236}">
                <a16:creationId xmlns:a16="http://schemas.microsoft.com/office/drawing/2014/main" id="{559E198B-F1C3-4E17-AA04-BE6BBD3C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7448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九个对外 Agent 入口位于 intent-analysis、requirements、design-analyst、architect、build、integrity、delivery、prosecutor、orchestrator。</a:t>
            </a:r>
          </a:p>
        </p:txBody>
      </p:sp>
      <p:sp>
        <p:nvSpPr>
          <p:cNvPr id="11" name="orch-b2-mark">
            <a:extLst xmlns:a="http://schemas.openxmlformats.org/drawingml/2006/main">
              <a:ext uri="{FF2B5EF4-FFF2-40B4-BE49-F238E27FC236}">
                <a16:creationId xmlns:a16="http://schemas.microsoft.com/office/drawing/2014/main" id="{3F9DC85D-F2CB-4B4F-80F7-395EB71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12"/>
          </a:solidFill>
        </p:spPr>
      </p:sp>
      <p:sp>
        <p:nvSpPr>
          <p:cNvPr id="12" name="orch-b2">
            <a:extLst xmlns:a="http://schemas.openxmlformats.org/drawingml/2006/main">
              <a:ext uri="{FF2B5EF4-FFF2-40B4-BE49-F238E27FC236}">
                <a16:creationId xmlns:a16="http://schemas.microsoft.com/office/drawing/2014/main" id="{FF8006F3-BC30-4F4E-90C1-8BB53DE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7448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SessionKind 有 15 项，是运行时容器分类；prosecutor 有入口文件，但没有独立 SessionKind。</a:t>
            </a:r>
          </a:p>
        </p:txBody>
      </p:sp>
      <p:sp>
        <p:nvSpPr>
          <p:cNvPr id="13" name="orch-b3-mark">
            <a:extLst xmlns:a="http://schemas.openxmlformats.org/drawingml/2006/main">
              <a:ext uri="{FF2B5EF4-FFF2-40B4-BE49-F238E27FC236}">
                <a16:creationId xmlns:a16="http://schemas.microsoft.com/office/drawing/2014/main" id="{C86DA258-C37F-452C-B770-6ADA5EA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3"/>
          </a:solidFill>
        </p:spPr>
      </p:sp>
      <p:sp>
        <p:nvSpPr>
          <p:cNvPr id="14" name="orch-b3">
            <a:extLst xmlns:a="http://schemas.openxmlformats.org/drawingml/2006/main">
              <a:ext uri="{FF2B5EF4-FFF2-40B4-BE49-F238E27FC236}">
                <a16:creationId xmlns:a16="http://schemas.microsoft.com/office/drawing/2014/main" id="{A68CE8EF-9174-414D-8F41-AE0A7696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7448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所有工具结果、构建证据、审计结果与用户消息继续进入同一任务上下文。</a:t>
            </a:r>
          </a:p>
        </p:txBody>
      </p:sp>
      <p:pic>
        <p:nvPicPr>
          <p:cNvPr id="15" name="orchestration-framework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abebe4513495f"/>
          <a:stretch xmlns:a="http://schemas.openxmlformats.org/drawingml/2006/main"/>
        </p:blipFill>
        <p:spPr>
          <a:xfrm xmlns:a="http://schemas.openxmlformats.org/drawingml/2006/main">
            <a:off x="8900636" y="3091339"/>
            <a:ext cx="8511064" cy="5674043"/>
          </a:xfrm>
          <a:prstGeom xmlns:a="http://schemas.openxmlformats.org/drawingml/2006/main" prst="rect">
            <a:avLst/>
          </a:prstGeom>
        </p:spPr>
      </p:pic>
      <p:sp>
        <p:nvSpPr>
          <p:cNvPr id="16" name="source-5">
            <a:extLst xmlns:a="http://schemas.openxmlformats.org/drawingml/2006/main">
              <a:ext uri="{FF2B5EF4-FFF2-40B4-BE49-F238E27FC236}">
                <a16:creationId xmlns:a16="http://schemas.microsoft.com/office/drawing/2014/main" id="{3D9117DB-2B2B-4A7F-9B27-C78B1AA6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04 and assets/orchestration-framework.png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1521920A-E16E-4067-A3BD-96DD10AB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7452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7BF9C5B0-9680-446E-9994-300D1B8E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Goal And Contract-rule">
            <a:extLst xmlns:a="http://schemas.openxmlformats.org/drawingml/2006/main">
              <a:ext uri="{FF2B5EF4-FFF2-40B4-BE49-F238E27FC236}">
                <a16:creationId xmlns:a16="http://schemas.microsoft.com/office/drawing/2014/main" id="{5329904F-E4A9-475A-B9E0-608ABCE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Goal And Contract-label">
            <a:extLst xmlns:a="http://schemas.openxmlformats.org/drawingml/2006/main">
              <a:ext uri="{FF2B5EF4-FFF2-40B4-BE49-F238E27FC236}">
                <a16:creationId xmlns:a16="http://schemas.microsoft.com/office/drawing/2014/main" id="{249620B9-2DC5-430C-9A7B-6C133CD6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Goal And Contract</a:t>
            </a:r>
          </a:p>
        </p:txBody>
      </p:sp>
      <p:sp>
        <p:nvSpPr>
          <p:cNvPr id="4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5364EC1E-8482-4099-95A2-2590978D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83058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Goal 与契约：验收不是单个打分字段</a:t>
            </a:r>
          </a:p>
        </p:txBody>
      </p:sp>
      <p:sp>
        <p:nvSpPr>
          <p:cNvPr id="5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5C93372E-EF1B-4046-B23E-C27B6D2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410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Architect、Acceptance Spec、Contract IR 和 Integrity 共同约束构建结果。</a:t>
            </a:r>
          </a:p>
        </p:txBody>
      </p:sp>
      <p:pic>
        <p:nvPicPr>
          <p:cNvPr id="6" name="goal-design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ac655a4204ed6"/>
          <a:stretch xmlns:a="http://schemas.openxmlformats.org/drawingml/2006/main"/>
        </p:blipFill>
        <p:spPr>
          <a:xfrm xmlns:a="http://schemas.openxmlformats.org/drawingml/2006/main">
            <a:off x="876300" y="3551761"/>
            <a:ext cx="9542336" cy="5370417"/>
          </a:xfrm>
          <a:prstGeom xmlns:a="http://schemas.openxmlformats.org/drawingml/2006/main" prst="rect">
            <a:avLst/>
          </a:prstGeom>
        </p:spPr>
      </p:pic>
      <p:sp>
        <p:nvSpPr>
          <p:cNvPr id="7" name="goal-b1-mark">
            <a:extLst xmlns:a="http://schemas.openxmlformats.org/drawingml/2006/main">
              <a:ext uri="{FF2B5EF4-FFF2-40B4-BE49-F238E27FC236}">
                <a16:creationId xmlns:a16="http://schemas.microsoft.com/office/drawing/2014/main" id="{243C3077-D12A-45E3-99D5-265C3E7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933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8" name="goal-b1">
            <a:extLst xmlns:a="http://schemas.openxmlformats.org/drawingml/2006/main">
              <a:ext uri="{FF2B5EF4-FFF2-40B4-BE49-F238E27FC236}">
                <a16:creationId xmlns:a16="http://schemas.microsoft.com/office/drawing/2014/main" id="{14A39D68-0CF6-4653-AF56-0FBCEA9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933950"/>
            <a:ext cx="638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Architect 至少注册两个 Goal；当前约束是运行时常量 MIN_ARCHITECT_GOAL_COUNT = 2。</a:t>
            </a:r>
          </a:p>
        </p:txBody>
      </p:sp>
      <p:sp>
        <p:nvSpPr>
          <p:cNvPr id="9" name="goal-b2-mark">
            <a:extLst xmlns:a="http://schemas.openxmlformats.org/drawingml/2006/main">
              <a:ext uri="{FF2B5EF4-FFF2-40B4-BE49-F238E27FC236}">
                <a16:creationId xmlns:a16="http://schemas.microsoft.com/office/drawing/2014/main" id="{B82D1E6C-394B-427A-8AD1-3FCC42A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715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3"/>
          </a:solidFill>
        </p:spPr>
      </p:sp>
      <p:sp>
        <p:nvSpPr>
          <p:cNvPr id="10" name="goal-b2">
            <a:extLst xmlns:a="http://schemas.openxmlformats.org/drawingml/2006/main">
              <a:ext uri="{FF2B5EF4-FFF2-40B4-BE49-F238E27FC236}">
                <a16:creationId xmlns:a16="http://schemas.microsoft.com/office/drawing/2014/main" id="{0EC6223B-F246-4841-8C89-00632B5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715000"/>
            <a:ext cx="638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Acceptance Spec 字段是 scorers: ScorerSchema[]，schema 层要求至少一项。</a:t>
            </a:r>
          </a:p>
        </p:txBody>
      </p:sp>
      <p:sp>
        <p:nvSpPr>
          <p:cNvPr id="11" name="goal-b3-mark">
            <a:extLst xmlns:a="http://schemas.openxmlformats.org/drawingml/2006/main">
              <a:ext uri="{FF2B5EF4-FFF2-40B4-BE49-F238E27FC236}">
                <a16:creationId xmlns:a16="http://schemas.microsoft.com/office/drawing/2014/main" id="{137C544D-364D-4AB4-BCEE-8E5CAAE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12"/>
          </a:solidFill>
        </p:spPr>
      </p:sp>
      <p:sp>
        <p:nvSpPr>
          <p:cNvPr id="12" name="goal-b3">
            <a:extLst xmlns:a="http://schemas.openxmlformats.org/drawingml/2006/main">
              <a:ext uri="{FF2B5EF4-FFF2-40B4-BE49-F238E27FC236}">
                <a16:creationId xmlns:a16="http://schemas.microsoft.com/office/drawing/2014/main" id="{9E02C9F6-3C2B-4293-9BC9-1FE0117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638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Contract IR enum variant 是包含 value 和 meaning 的对象数组，不是字符串数组。</a:t>
            </a:r>
          </a:p>
        </p:txBody>
      </p:sp>
      <p:sp>
        <p:nvSpPr>
          <p:cNvPr id="13" name="goal-b4-mark">
            <a:extLst xmlns:a="http://schemas.openxmlformats.org/drawingml/2006/main">
              <a:ext uri="{FF2B5EF4-FFF2-40B4-BE49-F238E27FC236}">
                <a16:creationId xmlns:a16="http://schemas.microsoft.com/office/drawing/2014/main" id="{94C9C50D-DEBC-454C-9A2F-12F8D88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25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3434"/>
          </a:solidFill>
        </p:spPr>
      </p:sp>
      <p:sp>
        <p:nvSpPr>
          <p:cNvPr id="14" name="goal-b4">
            <a:extLst xmlns:a="http://schemas.openxmlformats.org/drawingml/2006/main">
              <a:ext uri="{FF2B5EF4-FFF2-40B4-BE49-F238E27FC236}">
                <a16:creationId xmlns:a16="http://schemas.microsoft.com/office/drawing/2014/main" id="{23F3AAB8-8F7E-416F-8B2D-5D81C58A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258050"/>
            <a:ext cx="638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Integrity 独立复核需求覆盖、可行性、幻觉风险和方案质量。</a:t>
            </a:r>
          </a:p>
        </p:txBody>
      </p:sp>
      <p:sp>
        <p:nvSpPr>
          <p:cNvPr id="15" name="source-6">
            <a:extLst xmlns:a="http://schemas.openxmlformats.org/drawingml/2006/main">
              <a:ext uri="{FF2B5EF4-FFF2-40B4-BE49-F238E27FC236}">
                <a16:creationId xmlns:a16="http://schemas.microsoft.com/office/drawing/2014/main" id="{AA9AD07B-D03B-452A-B2FD-D485D318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05 and assets/opencorvus-goal-design.png</a:t>
            </a:r>
          </a:p>
        </p:txBody>
      </p:sp>
      <p:sp>
        <p:nvSpPr>
          <p:cNvPr id="16" name="page-6">
            <a:extLst xmlns:a="http://schemas.openxmlformats.org/drawingml/2006/main">
              <a:ext uri="{FF2B5EF4-FFF2-40B4-BE49-F238E27FC236}">
                <a16:creationId xmlns:a16="http://schemas.microsoft.com/office/drawing/2014/main" id="{1B028519-2B66-4EB4-B1DC-DE7206DF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1555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F867711A-6974-4AF6-99EA-03574561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Persistence-rule">
            <a:extLst xmlns:a="http://schemas.openxmlformats.org/drawingml/2006/main">
              <a:ext uri="{FF2B5EF4-FFF2-40B4-BE49-F238E27FC236}">
                <a16:creationId xmlns:a16="http://schemas.microsoft.com/office/drawing/2014/main" id="{C9BEFBDE-EACC-45EB-A9A8-CDE8A463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Persistence-label">
            <a:extLst xmlns:a="http://schemas.openxmlformats.org/drawingml/2006/main">
              <a:ext uri="{FF2B5EF4-FFF2-40B4-BE49-F238E27FC236}">
                <a16:creationId xmlns:a16="http://schemas.microsoft.com/office/drawing/2014/main" id="{3374A6CA-D73B-457F-AD04-01930B44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Persistence</a:t>
            </a:r>
          </a:p>
        </p:txBody>
      </p:sp>
      <p:sp>
        <p:nvSpPr>
          <p:cNvPr id="4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9A616EFC-6BE0-4E2F-81B0-D0731FDF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0801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数据库：任务事实被拆成结构、证据和事件三层</a:t>
            </a:r>
          </a:p>
        </p:txBody>
      </p:sp>
      <p:sp>
        <p:nvSpPr>
          <p:cNvPr id="5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5BED7D93-2656-4337-9B20-A9DD571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SQLite 是任务复盘、Overlay 展示、HTTP API 和 Orchestrator 决策的共同事实源。</a:t>
            </a:r>
          </a:p>
        </p:txBody>
      </p:sp>
      <p:sp>
        <p:nvSpPr>
          <p:cNvPr id="6" name="storage-relationship">
            <a:extLst xmlns:a="http://schemas.openxmlformats.org/drawingml/2006/main">
              <a:ext uri="{FF2B5EF4-FFF2-40B4-BE49-F238E27FC236}">
                <a16:creationId xmlns:a16="http://schemas.microsoft.com/office/drawing/2014/main" id="{4E168D86-0AE2-4A9A-A776-7C9ABDE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6970"/>
            <a:ext cx="5359400" cy="6717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storage-rel-title">
            <a:extLst xmlns:a="http://schemas.openxmlformats.org/drawingml/2006/main">
              <a:ext uri="{FF2B5EF4-FFF2-40B4-BE49-F238E27FC236}">
                <a16:creationId xmlns:a16="http://schemas.microsoft.com/office/drawing/2014/main" id="{5E9ABEC8-1E5F-4414-93E2-88743E0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5F78"/>
                </a:solidFill>
              </a:defRPr>
            </a:pPr>
            <a:r>
              <a:rPr sz="2550" b="1">
                <a:solidFill>
                  <a:srgbClr val="1D5F78"/>
                </a:solidFill>
              </a:rPr>
              <a:t>关系层</a:t>
            </a:r>
          </a:p>
        </p:txBody>
      </p:sp>
      <p:sp>
        <p:nvSpPr>
          <p:cNvPr id="8" name="storage-rel-copy">
            <a:extLst xmlns:a="http://schemas.openxmlformats.org/drawingml/2006/main">
              <a:ext uri="{FF2B5EF4-FFF2-40B4-BE49-F238E27FC236}">
                <a16:creationId xmlns:a16="http://schemas.microsoft.com/office/drawing/2014/main" id="{01F37AB4-87FD-43F4-B979-4FA9342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4781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engine_task、engine_goal、engine_requirement、engine_plan_version 保存任务结构。</a:t>
            </a:r>
          </a:p>
        </p:txBody>
      </p:sp>
      <p:sp>
        <p:nvSpPr>
          <p:cNvPr id="9" name="storage-evidence">
            <a:extLst xmlns:a="http://schemas.openxmlformats.org/drawingml/2006/main">
              <a:ext uri="{FF2B5EF4-FFF2-40B4-BE49-F238E27FC236}">
                <a16:creationId xmlns:a16="http://schemas.microsoft.com/office/drawing/2014/main" id="{EED24073-C6A2-4F18-97D9-0C2BB4A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426970"/>
            <a:ext cx="5359400" cy="6717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storage-ev-title">
            <a:extLst xmlns:a="http://schemas.openxmlformats.org/drawingml/2006/main">
              <a:ext uri="{FF2B5EF4-FFF2-40B4-BE49-F238E27FC236}">
                <a16:creationId xmlns:a16="http://schemas.microsoft.com/office/drawing/2014/main" id="{478DC5D2-A290-4A04-ACB6-E2035E0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53"/>
                </a:solidFill>
              </a:defRPr>
            </a:pPr>
            <a:r>
              <a:rPr sz="2550" b="1">
                <a:solidFill>
                  <a:srgbClr val="2F6F53"/>
                </a:solidFill>
              </a:rPr>
              <a:t>证据层</a:t>
            </a:r>
          </a:p>
        </p:txBody>
      </p:sp>
      <p:sp>
        <p:nvSpPr>
          <p:cNvPr id="11" name="storage-ev-copy">
            <a:extLst xmlns:a="http://schemas.openxmlformats.org/drawingml/2006/main">
              <a:ext uri="{FF2B5EF4-FFF2-40B4-BE49-F238E27FC236}">
                <a16:creationId xmlns:a16="http://schemas.microsoft.com/office/drawing/2014/main" id="{1FDAABB0-CAA2-4778-BF0E-9F263240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4781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engine_artifact、metric、counterexample、iteration 记录构建、验收和审计材料。</a:t>
            </a:r>
          </a:p>
        </p:txBody>
      </p:sp>
      <p:sp>
        <p:nvSpPr>
          <p:cNvPr id="12" name="storage-event">
            <a:extLst xmlns:a="http://schemas.openxmlformats.org/drawingml/2006/main">
              <a:ext uri="{FF2B5EF4-FFF2-40B4-BE49-F238E27FC236}">
                <a16:creationId xmlns:a16="http://schemas.microsoft.com/office/drawing/2014/main" id="{0CA79954-57C0-438C-A661-DE6107E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426970"/>
            <a:ext cx="5359400" cy="6717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orage-event-title">
            <a:extLst xmlns:a="http://schemas.openxmlformats.org/drawingml/2006/main">
              <a:ext uri="{FF2B5EF4-FFF2-40B4-BE49-F238E27FC236}">
                <a16:creationId xmlns:a16="http://schemas.microsoft.com/office/drawing/2014/main" id="{8CDF35B1-4612-4FE4-A0F1-D2FC3992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05100"/>
            <a:ext cx="4781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A5A12"/>
                </a:solidFill>
              </a:defRPr>
            </a:pPr>
            <a:r>
              <a:rPr sz="2550" b="1">
                <a:solidFill>
                  <a:srgbClr val="8A5A12"/>
                </a:solidFill>
              </a:rPr>
              <a:t>事件层</a:t>
            </a:r>
          </a:p>
        </p:txBody>
      </p:sp>
      <p:sp>
        <p:nvSpPr>
          <p:cNvPr id="14" name="storage-event-copy">
            <a:extLst xmlns:a="http://schemas.openxmlformats.org/drawingml/2006/main">
              <a:ext uri="{FF2B5EF4-FFF2-40B4-BE49-F238E27FC236}">
                <a16:creationId xmlns:a16="http://schemas.microsoft.com/office/drawing/2014/main" id="{D6EEC3DE-DB80-45F6-8577-46C3A85F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95650"/>
            <a:ext cx="4781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protocol_event 与 protocol_inbox 记录可重放的任务通信事实。memory_embedding 是独立表，以 chunk_id 为主键。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8819AD78-F583-4A3C-AEC0-D46CA779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06; storage/ddl.ts contains 44 CREATE TABLE / CREATE VIRTUAL TABLE statements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DCB73D77-CF6B-400E-9923-49DB202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33811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58C75C88-44C5-4610-8815-5A5EDA4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UI And Channels-rule">
            <a:extLst xmlns:a="http://schemas.openxmlformats.org/drawingml/2006/main">
              <a:ext uri="{FF2B5EF4-FFF2-40B4-BE49-F238E27FC236}">
                <a16:creationId xmlns:a16="http://schemas.microsoft.com/office/drawing/2014/main" id="{456AB035-0333-4291-BF03-83A85DA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UI And Channels-label">
            <a:extLst xmlns:a="http://schemas.openxmlformats.org/drawingml/2006/main">
              <a:ext uri="{FF2B5EF4-FFF2-40B4-BE49-F238E27FC236}">
                <a16:creationId xmlns:a16="http://schemas.microsoft.com/office/drawing/2014/main" id="{2E79A54A-CBD4-4863-ADAC-924866D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UI And Channels</a:t>
            </a:r>
          </a:p>
        </p:txBody>
      </p:sp>
      <p:sp>
        <p:nvSpPr>
          <p:cNvPr id="4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17F501AD-36CE-46CE-A003-5E13DCE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1010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前端与通道：Overlay 展示事实，通道接入控制面</a:t>
            </a:r>
          </a:p>
        </p:txBody>
      </p:sp>
      <p:sp>
        <p:nvSpPr>
          <p:cNvPr id="5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F954EEDF-E823-4290-9401-3061533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43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每个入口不复制任务逻辑；它们读取和追加同一任务事实源。</a:t>
            </a:r>
          </a:p>
        </p:txBody>
      </p:sp>
      <p:sp>
        <p:nvSpPr>
          <p:cNvPr id="6" name="overlay-files-panel">
            <a:extLst xmlns:a="http://schemas.openxmlformats.org/drawingml/2006/main">
              <a:ext uri="{FF2B5EF4-FFF2-40B4-BE49-F238E27FC236}">
                <a16:creationId xmlns:a16="http://schemas.microsoft.com/office/drawing/2014/main" id="{A9063AFD-6A0B-464D-8366-E71AC42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4190"/>
            <a:ext cx="8124825" cy="2964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overlay-files-value">
            <a:extLst xmlns:a="http://schemas.openxmlformats.org/drawingml/2006/main">
              <a:ext uri="{FF2B5EF4-FFF2-40B4-BE49-F238E27FC236}">
                <a16:creationId xmlns:a16="http://schemas.microsoft.com/office/drawing/2014/main" id="{503F2563-9EA4-4A1F-BB4F-300058D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677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D5F78"/>
                </a:solidFill>
              </a:defRPr>
            </a:pPr>
            <a:r>
              <a:rPr sz="4650" b="1">
                <a:solidFill>
                  <a:srgbClr val="1D5F78"/>
                </a:solidFill>
              </a:rPr>
              <a:t>76</a:t>
            </a:r>
          </a:p>
        </p:txBody>
      </p:sp>
      <p:sp>
        <p:nvSpPr>
          <p:cNvPr id="8" name="overlay-files-label">
            <a:extLst xmlns:a="http://schemas.openxmlformats.org/drawingml/2006/main">
              <a:ext uri="{FF2B5EF4-FFF2-40B4-BE49-F238E27FC236}">
                <a16:creationId xmlns:a16="http://schemas.microsoft.com/office/drawing/2014/main" id="{754367AB-EFA0-4152-AC85-14C4476A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Overlay .tsx components</a:t>
            </a:r>
          </a:p>
        </p:txBody>
      </p:sp>
      <p:sp>
        <p:nvSpPr>
          <p:cNvPr id="9" name="overlay-files-note">
            <a:extLst xmlns:a="http://schemas.openxmlformats.org/drawingml/2006/main">
              <a:ext uri="{FF2B5EF4-FFF2-40B4-BE49-F238E27FC236}">
                <a16:creationId xmlns:a16="http://schemas.microsoft.com/office/drawing/2014/main" id="{B1EB319A-6106-4216-AE8F-CFE3D3A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.ts + .tsx 合计 177；展示任务、会话、Goal、构建证据和控制消息。</a:t>
            </a:r>
          </a:p>
        </p:txBody>
      </p:sp>
      <p:sp>
        <p:nvSpPr>
          <p:cNvPr id="10" name="channel-files-panel">
            <a:extLst xmlns:a="http://schemas.openxmlformats.org/drawingml/2006/main">
              <a:ext uri="{FF2B5EF4-FFF2-40B4-BE49-F238E27FC236}">
                <a16:creationId xmlns:a16="http://schemas.microsoft.com/office/drawing/2014/main" id="{FAB6CA0E-834E-4F6F-BC7C-5AA34E15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9820"/>
            <a:ext cx="8124825" cy="2964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channel-files-value">
            <a:extLst xmlns:a="http://schemas.openxmlformats.org/drawingml/2006/main">
              <a:ext uri="{FF2B5EF4-FFF2-40B4-BE49-F238E27FC236}">
                <a16:creationId xmlns:a16="http://schemas.microsoft.com/office/drawing/2014/main" id="{BBCD6310-AF24-42FB-9743-6044AA26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81750"/>
            <a:ext cx="7677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F53"/>
                </a:solidFill>
              </a:defRPr>
            </a:pPr>
            <a:r>
              <a:rPr sz="4650" b="1">
                <a:solidFill>
                  <a:srgbClr val="2F6F53"/>
                </a:solidFill>
              </a:rPr>
              <a:t>15</a:t>
            </a:r>
          </a:p>
        </p:txBody>
      </p:sp>
      <p:sp>
        <p:nvSpPr>
          <p:cNvPr id="12" name="channel-files-label">
            <a:extLst xmlns:a="http://schemas.openxmlformats.org/drawingml/2006/main">
              <a:ext uri="{FF2B5EF4-FFF2-40B4-BE49-F238E27FC236}">
                <a16:creationId xmlns:a16="http://schemas.microsoft.com/office/drawing/2014/main" id="{C3D147F7-2467-470C-A509-1A88285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7152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Channel adapters</a:t>
            </a:r>
          </a:p>
        </p:txBody>
      </p:sp>
      <p:sp>
        <p:nvSpPr>
          <p:cNvPr id="13" name="channel-files-note">
            <a:extLst xmlns:a="http://schemas.openxmlformats.org/drawingml/2006/main">
              <a:ext uri="{FF2B5EF4-FFF2-40B4-BE49-F238E27FC236}">
                <a16:creationId xmlns:a16="http://schemas.microsoft.com/office/drawing/2014/main" id="{EC87BDFF-143A-4BE3-B425-04F241E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572500"/>
            <a:ext cx="7677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15B"/>
                </a:solidFill>
              </a:defRPr>
            </a:pPr>
            <a:r>
              <a:rPr sz="1200">
                <a:solidFill>
                  <a:srgbClr val="59615B"/>
                </a:solidFill>
              </a:rPr>
              <a:t>dingtalk、discord、feishu、googlechat、http、line、matrix、mattermost、msteams、qq、signal、slack、telegram、wecom、whatsapp。</a:t>
            </a:r>
          </a:p>
        </p:txBody>
      </p:sp>
      <p:sp>
        <p:nvSpPr>
          <p:cNvPr id="14" name="front-b1-mark">
            <a:extLst xmlns:a="http://schemas.openxmlformats.org/drawingml/2006/main">
              <a:ext uri="{FF2B5EF4-FFF2-40B4-BE49-F238E27FC236}">
                <a16:creationId xmlns:a16="http://schemas.microsoft.com/office/drawing/2014/main" id="{80A7E163-1A6C-4824-BCA5-E647355F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3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15" name="front-b1">
            <a:extLst xmlns:a="http://schemas.openxmlformats.org/drawingml/2006/main">
              <a:ext uri="{FF2B5EF4-FFF2-40B4-BE49-F238E27FC236}">
                <a16:creationId xmlns:a16="http://schemas.microsoft.com/office/drawing/2014/main" id="{B5F2D43F-C627-47DA-A9BD-3264B331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38750"/>
            <a:ext cx="7886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Overlay UI 读取本地 server API 与 SSE 流，负责浏览任务、查看证据和发控制消息。</a:t>
            </a:r>
          </a:p>
        </p:txBody>
      </p:sp>
      <p:sp>
        <p:nvSpPr>
          <p:cNvPr id="16" name="front-b2-mark">
            <a:extLst xmlns:a="http://schemas.openxmlformats.org/drawingml/2006/main">
              <a:ext uri="{FF2B5EF4-FFF2-40B4-BE49-F238E27FC236}">
                <a16:creationId xmlns:a16="http://schemas.microsoft.com/office/drawing/2014/main" id="{90AB2761-462D-4515-A2D4-AAF8509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962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12"/>
          </a:solidFill>
        </p:spPr>
      </p:sp>
      <p:sp>
        <p:nvSpPr>
          <p:cNvPr id="17" name="front-b2">
            <a:extLst xmlns:a="http://schemas.openxmlformats.org/drawingml/2006/main">
              <a:ext uri="{FF2B5EF4-FFF2-40B4-BE49-F238E27FC236}">
                <a16:creationId xmlns:a16="http://schemas.microsoft.com/office/drawing/2014/main" id="{48B69527-0D0F-4373-B33A-770C5BE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62650"/>
            <a:ext cx="7886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HTTP API 提供创建任务、读取 board、追加用户消息、retry、replan、cancel 等入口。</a:t>
            </a:r>
          </a:p>
        </p:txBody>
      </p:sp>
      <p:sp>
        <p:nvSpPr>
          <p:cNvPr id="18" name="front-b3-mark">
            <a:extLst xmlns:a="http://schemas.openxmlformats.org/drawingml/2006/main">
              <a:ext uri="{FF2B5EF4-FFF2-40B4-BE49-F238E27FC236}">
                <a16:creationId xmlns:a16="http://schemas.microsoft.com/office/drawing/2014/main" id="{C696E259-1C9F-4C16-8550-019F55BA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68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3"/>
          </a:solidFill>
        </p:spPr>
      </p:sp>
      <p:sp>
        <p:nvSpPr>
          <p:cNvPr id="19" name="front-b3">
            <a:extLst xmlns:a="http://schemas.openxmlformats.org/drawingml/2006/main">
              <a:ext uri="{FF2B5EF4-FFF2-40B4-BE49-F238E27FC236}">
                <a16:creationId xmlns:a16="http://schemas.microsoft.com/office/drawing/2014/main" id="{855FDC12-A80E-498E-B51F-A8E9B6D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686550"/>
            <a:ext cx="788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Channel runtime 只做 ingress / egress，不持有独立任务事实。</a:t>
            </a:r>
          </a:p>
        </p:txBody>
      </p:sp>
      <p:sp>
        <p:nvSpPr>
          <p:cNvPr id="20" name="source-8">
            <a:extLst xmlns:a="http://schemas.openxmlformats.org/drawingml/2006/main">
              <a:ext uri="{FF2B5EF4-FFF2-40B4-BE49-F238E27FC236}">
                <a16:creationId xmlns:a16="http://schemas.microsoft.com/office/drawing/2014/main" id="{498034A3-968F-4D32-9AA7-F103C301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07</a:t>
            </a:r>
          </a:p>
        </p:txBody>
      </p:sp>
      <p:sp>
        <p:nvSpPr>
          <p:cNvPr id="21" name="page-8">
            <a:extLst xmlns:a="http://schemas.openxmlformats.org/drawingml/2006/main">
              <a:ext uri="{FF2B5EF4-FFF2-40B4-BE49-F238E27FC236}">
                <a16:creationId xmlns:a16="http://schemas.microsoft.com/office/drawing/2014/main" id="{9E059C8B-09EF-4874-9975-23905A7F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59627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F8E0BDC3-3F3C-45E7-BA9D-FDCA76A8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Runtime-rule">
            <a:extLst xmlns:a="http://schemas.openxmlformats.org/drawingml/2006/main">
              <a:ext uri="{FF2B5EF4-FFF2-40B4-BE49-F238E27FC236}">
                <a16:creationId xmlns:a16="http://schemas.microsoft.com/office/drawing/2014/main" id="{71174268-8C7A-429B-BDA6-19FF75F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Runtime-label">
            <a:extLst xmlns:a="http://schemas.openxmlformats.org/drawingml/2006/main">
              <a:ext uri="{FF2B5EF4-FFF2-40B4-BE49-F238E27FC236}">
                <a16:creationId xmlns:a16="http://schemas.microsoft.com/office/drawing/2014/main" id="{3290D83E-01B2-4452-8D8D-8DFF019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Runtime</a:t>
            </a:r>
          </a:p>
        </p:txBody>
      </p:sp>
      <p:sp>
        <p:nvSpPr>
          <p:cNvPr id="4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B92732F0-ADDF-428A-BFA4-C19B151B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1830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执行器与部署：编排层把不同执行器纳入同一验收链</a:t>
            </a:r>
          </a:p>
        </p:txBody>
      </p:sp>
      <p:sp>
        <p:nvSpPr>
          <p:cNvPr id="5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427EE9B4-3576-4960-8135-F881F02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979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当前 executor id 为 opencorvus、codex、claude-code；内置实现文件是 executor/opencorvus.ts。</a:t>
            </a:r>
          </a:p>
        </p:txBody>
      </p:sp>
      <p:sp>
        <p:nvSpPr>
          <p:cNvPr id="6" name="rt-executor">
            <a:extLst xmlns:a="http://schemas.openxmlformats.org/drawingml/2006/main">
              <a:ext uri="{FF2B5EF4-FFF2-40B4-BE49-F238E27FC236}">
                <a16:creationId xmlns:a16="http://schemas.microsoft.com/office/drawing/2014/main" id="{611DB88F-BE5C-4163-8375-BE368CA3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2720"/>
            <a:ext cx="8162925" cy="3110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rt-executor-title">
            <a:extLst xmlns:a="http://schemas.openxmlformats.org/drawingml/2006/main">
              <a:ext uri="{FF2B5EF4-FFF2-40B4-BE49-F238E27FC236}">
                <a16:creationId xmlns:a16="http://schemas.microsoft.com/office/drawing/2014/main" id="{43644C00-6F1B-428E-86AD-C7F23D4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760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D5F78"/>
                </a:solidFill>
              </a:defRPr>
            </a:pPr>
            <a:r>
              <a:rPr sz="2400" b="1">
                <a:solidFill>
                  <a:srgbClr val="1D5F78"/>
                </a:solidFill>
              </a:rPr>
              <a:t>Executor</a:t>
            </a:r>
          </a:p>
        </p:txBody>
      </p:sp>
      <p:sp>
        <p:nvSpPr>
          <p:cNvPr id="8" name="rt-executor-code">
            <a:extLst xmlns:a="http://schemas.openxmlformats.org/drawingml/2006/main">
              <a:ext uri="{FF2B5EF4-FFF2-40B4-BE49-F238E27FC236}">
                <a16:creationId xmlns:a16="http://schemas.microsoft.com/office/drawing/2014/main" id="{7619FF23-32D9-428D-BD86-9F94FA7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600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A17"/>
                </a:solidFill>
              </a:defRPr>
            </a:pPr>
            <a:r>
              <a:rPr sz="1875">
                <a:solidFill>
                  <a:srgbClr val="171A17"/>
                </a:solidFill>
              </a:rPr>
              <a:t>opencorvus | codex | claude-code</a:t>
            </a:r>
          </a:p>
        </p:txBody>
      </p:sp>
      <p:sp>
        <p:nvSpPr>
          <p:cNvPr id="9" name="rt-scheduler">
            <a:extLst xmlns:a="http://schemas.openxmlformats.org/drawingml/2006/main">
              <a:ext uri="{FF2B5EF4-FFF2-40B4-BE49-F238E27FC236}">
                <a16:creationId xmlns:a16="http://schemas.microsoft.com/office/drawing/2014/main" id="{B7688D0A-E309-4E10-98A9-933036D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12720"/>
            <a:ext cx="8162925" cy="3110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rt-scheduler-title">
            <a:extLst xmlns:a="http://schemas.openxmlformats.org/drawingml/2006/main">
              <a:ext uri="{FF2B5EF4-FFF2-40B4-BE49-F238E27FC236}">
                <a16:creationId xmlns:a16="http://schemas.microsoft.com/office/drawing/2014/main" id="{817132AD-6C96-4BC7-9C4F-BCB5733B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760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6F53"/>
                </a:solidFill>
              </a:defRPr>
            </a:pPr>
            <a:r>
              <a:rPr sz="2400" b="1">
                <a:solidFill>
                  <a:srgbClr val="2F6F53"/>
                </a:solidFill>
              </a:rPr>
              <a:t>Scheduler</a:t>
            </a:r>
          </a:p>
        </p:txBody>
      </p:sp>
      <p:sp>
        <p:nvSpPr>
          <p:cNvPr id="11" name="rt-scheduler-copy">
            <a:extLst xmlns:a="http://schemas.openxmlformats.org/drawingml/2006/main">
              <a:ext uri="{FF2B5EF4-FFF2-40B4-BE49-F238E27FC236}">
                <a16:creationId xmlns:a16="http://schemas.microsoft.com/office/drawing/2014/main" id="{6727EF6D-75FD-4E0B-AA67-006B755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760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TaskQueueService 位于 scheduler/task-queue-service.ts，被 bootstrap、TUI、route 和 executor 调用。</a:t>
            </a:r>
          </a:p>
        </p:txBody>
      </p:sp>
      <p:sp>
        <p:nvSpPr>
          <p:cNvPr id="12" name="rt-server">
            <a:extLst xmlns:a="http://schemas.openxmlformats.org/drawingml/2006/main">
              <a:ext uri="{FF2B5EF4-FFF2-40B4-BE49-F238E27FC236}">
                <a16:creationId xmlns:a16="http://schemas.microsoft.com/office/drawing/2014/main" id="{BFCC99DC-C982-457D-A99A-418B9AE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33135"/>
            <a:ext cx="8162925" cy="3110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rt-server-title">
            <a:extLst xmlns:a="http://schemas.openxmlformats.org/drawingml/2006/main">
              <a:ext uri="{FF2B5EF4-FFF2-40B4-BE49-F238E27FC236}">
                <a16:creationId xmlns:a16="http://schemas.microsoft.com/office/drawing/2014/main" id="{AC7E4627-9815-4A4A-8DAC-1E103EFE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05550"/>
            <a:ext cx="760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A5A12"/>
                </a:solidFill>
              </a:defRPr>
            </a:pPr>
            <a:r>
              <a:rPr sz="2400" b="1">
                <a:solidFill>
                  <a:srgbClr val="8A5A12"/>
                </a:solidFill>
              </a:rPr>
              <a:t>Serve</a:t>
            </a:r>
          </a:p>
        </p:txBody>
      </p:sp>
      <p:sp>
        <p:nvSpPr>
          <p:cNvPr id="14" name="rt-server-copy">
            <a:extLst xmlns:a="http://schemas.openxmlformats.org/drawingml/2006/main">
              <a:ext uri="{FF2B5EF4-FFF2-40B4-BE49-F238E27FC236}">
                <a16:creationId xmlns:a16="http://schemas.microsoft.com/office/drawing/2014/main" id="{9787230F-0012-4010-9CD3-5E97F684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19900"/>
            <a:ext cx="7600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本地启动形态以 opencorvus serve 为主，Overlay 通过本地 server 暴露。</a:t>
            </a:r>
          </a:p>
        </p:txBody>
      </p:sp>
      <p:sp>
        <p:nvSpPr>
          <p:cNvPr id="15" name="rt-api">
            <a:extLst xmlns:a="http://schemas.openxmlformats.org/drawingml/2006/main">
              <a:ext uri="{FF2B5EF4-FFF2-40B4-BE49-F238E27FC236}">
                <a16:creationId xmlns:a16="http://schemas.microsoft.com/office/drawing/2014/main" id="{59AF1C87-2D57-47E3-99A0-DCE399B2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33135"/>
            <a:ext cx="8162925" cy="3110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rt-api-title">
            <a:extLst xmlns:a="http://schemas.openxmlformats.org/drawingml/2006/main">
              <a:ext uri="{FF2B5EF4-FFF2-40B4-BE49-F238E27FC236}">
                <a16:creationId xmlns:a16="http://schemas.microsoft.com/office/drawing/2014/main" id="{6C81E666-C9F4-458D-ACC8-2D60AE96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05550"/>
            <a:ext cx="760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F3434"/>
                </a:solidFill>
              </a:defRPr>
            </a:pPr>
            <a:r>
              <a:rPr sz="2400" b="1">
                <a:solidFill>
                  <a:srgbClr val="9F3434"/>
                </a:solidFill>
              </a:rPr>
              <a:t>Task API</a:t>
            </a:r>
          </a:p>
        </p:txBody>
      </p:sp>
      <p:sp>
        <p:nvSpPr>
          <p:cNvPr id="17" name="rt-api-copy">
            <a:extLst xmlns:a="http://schemas.openxmlformats.org/drawingml/2006/main">
              <a:ext uri="{FF2B5EF4-FFF2-40B4-BE49-F238E27FC236}">
                <a16:creationId xmlns:a16="http://schemas.microsoft.com/office/drawing/2014/main" id="{357E9243-4322-4BCF-A294-EB343266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19900"/>
            <a:ext cx="760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POST /task、GET /tasks、GET /task/&lt;task_id&gt;/board、events、message、retry、replan、cancel。</a:t>
            </a:r>
          </a:p>
        </p:txBody>
      </p:sp>
      <p:sp>
        <p:nvSpPr>
          <p:cNvPr id="18" name="source-9">
            <a:extLst xmlns:a="http://schemas.openxmlformats.org/drawingml/2006/main">
              <a:ext uri="{FF2B5EF4-FFF2-40B4-BE49-F238E27FC236}">
                <a16:creationId xmlns:a16="http://schemas.microsoft.com/office/drawing/2014/main" id="{F07C4700-81F4-414C-9229-E6868946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08</a:t>
            </a:r>
          </a:p>
        </p:txBody>
      </p:sp>
      <p:sp>
        <p:nvSpPr>
          <p:cNvPr id="19" name="page-9">
            <a:extLst xmlns:a="http://schemas.openxmlformats.org/drawingml/2006/main">
              <a:ext uri="{FF2B5EF4-FFF2-40B4-BE49-F238E27FC236}">
                <a16:creationId xmlns:a16="http://schemas.microsoft.com/office/drawing/2014/main" id="{DECE9D47-3D91-47BE-8346-42913C0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91671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7B97FC3B-0CBC-4D1D-B8DF-B0F52901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3"/>
          </a:solidFill>
        </p:spPr>
      </p:sp>
      <p:sp>
        <p:nvSpPr>
          <p:cNvPr id="2" name="Limits And Next Work-rule">
            <a:extLst xmlns:a="http://schemas.openxmlformats.org/drawingml/2006/main">
              <a:ext uri="{FF2B5EF4-FFF2-40B4-BE49-F238E27FC236}">
                <a16:creationId xmlns:a16="http://schemas.microsoft.com/office/drawing/2014/main" id="{85B2158D-13F2-48C3-A877-1046940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  <a:ln xmlns:a="http://schemas.openxmlformats.org/drawingml/2006/main" w="0">
            <a:solidFill>
              <a:srgbClr val="1D5F78"/>
            </a:solidFill>
            <a:prstDash val="solid"/>
          </a:ln>
        </p:spPr>
      </p:sp>
      <p:sp>
        <p:nvSpPr>
          <p:cNvPr id="3" name="Limits And Next Work-label">
            <a:extLst xmlns:a="http://schemas.openxmlformats.org/drawingml/2006/main">
              <a:ext uri="{FF2B5EF4-FFF2-40B4-BE49-F238E27FC236}">
                <a16:creationId xmlns:a16="http://schemas.microsoft.com/office/drawing/2014/main" id="{39C416CA-419A-4753-B657-B10270E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8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F78"/>
                </a:solidFill>
              </a:defRPr>
            </a:pPr>
            <a:r>
              <a:rPr sz="1125" b="1">
                <a:solidFill>
                  <a:srgbClr val="1D5F78"/>
                </a:solidFill>
              </a:rPr>
              <a:t>Limits And Next Work</a:t>
            </a:r>
          </a:p>
        </p:txBody>
      </p:sp>
      <p:sp>
        <p:nvSpPr>
          <p:cNvPr id="4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1544BBB1-612A-4D30-95D0-CE34892A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23444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1A17"/>
                </a:solidFill>
              </a:defRPr>
            </a:pPr>
            <a:r>
              <a:rPr sz="4050" b="1">
                <a:solidFill>
                  <a:srgbClr val="171A17"/>
                </a:solidFill>
              </a:rPr>
              <a:t>边界：项目已经形成闭环，但仍处于开源准备和早期增长阶段</a:t>
            </a:r>
          </a:p>
        </p:txBody>
      </p:sp>
      <p:sp>
        <p:nvSpPr>
          <p:cNvPr id="5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98291103-6D73-4BD7-BFE0-6334913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15B"/>
                </a:solidFill>
              </a:defRPr>
            </a:pPr>
            <a:r>
              <a:rPr sz="1875">
                <a:solidFill>
                  <a:srgbClr val="59615B"/>
                </a:solidFill>
              </a:rPr>
              <a:t>下一阶段重点是稳定性基线、长任务验证、多人协作边界和公开材料清理。</a:t>
            </a:r>
          </a:p>
        </p:txBody>
      </p:sp>
      <p:sp>
        <p:nvSpPr>
          <p:cNvPr id="6" name="limit-b1-mark">
            <a:extLst xmlns:a="http://schemas.openxmlformats.org/drawingml/2006/main">
              <a:ext uri="{FF2B5EF4-FFF2-40B4-BE49-F238E27FC236}">
                <a16:creationId xmlns:a16="http://schemas.microsoft.com/office/drawing/2014/main" id="{687EE7CD-7626-4195-AD04-B828F6E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8"/>
          </a:solidFill>
        </p:spPr>
      </p:sp>
      <p:sp>
        <p:nvSpPr>
          <p:cNvPr id="7" name="limit-b1">
            <a:extLst xmlns:a="http://schemas.openxmlformats.org/drawingml/2006/main">
              <a:ext uri="{FF2B5EF4-FFF2-40B4-BE49-F238E27FC236}">
                <a16:creationId xmlns:a16="http://schemas.microsoft.com/office/drawing/2014/main" id="{063069B0-45E8-4470-BBFC-04CE34A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Overlay 大规模任务列表性能需要固定 1k / 5k / 10k 任务量级基线。</a:t>
            </a:r>
          </a:p>
        </p:txBody>
      </p:sp>
      <p:sp>
        <p:nvSpPr>
          <p:cNvPr id="8" name="limit-b2-mark">
            <a:extLst xmlns:a="http://schemas.openxmlformats.org/drawingml/2006/main">
              <a:ext uri="{FF2B5EF4-FFF2-40B4-BE49-F238E27FC236}">
                <a16:creationId xmlns:a16="http://schemas.microsoft.com/office/drawing/2014/main" id="{2C907158-7FEF-40F4-AC86-B792863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3"/>
          </a:solidFill>
        </p:spPr>
      </p:sp>
      <p:sp>
        <p:nvSpPr>
          <p:cNvPr id="9" name="limit-b2">
            <a:extLst xmlns:a="http://schemas.openxmlformats.org/drawingml/2006/main">
              <a:ext uri="{FF2B5EF4-FFF2-40B4-BE49-F238E27FC236}">
                <a16:creationId xmlns:a16="http://schemas.microsoft.com/office/drawing/2014/main" id="{88F01107-E61A-4C37-8745-621216BE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Executor delta 流式停顿已在 W20 修复，仍需要长输出场景持续回归。</a:t>
            </a:r>
          </a:p>
        </p:txBody>
      </p:sp>
      <p:sp>
        <p:nvSpPr>
          <p:cNvPr id="10" name="limit-b3-mark">
            <a:extLst xmlns:a="http://schemas.openxmlformats.org/drawingml/2006/main">
              <a:ext uri="{FF2B5EF4-FFF2-40B4-BE49-F238E27FC236}">
                <a16:creationId xmlns:a16="http://schemas.microsoft.com/office/drawing/2014/main" id="{901DF5F2-F226-45BD-9247-AA1963C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12"/>
          </a:solidFill>
        </p:spPr>
      </p:sp>
      <p:sp>
        <p:nvSpPr>
          <p:cNvPr id="11" name="limit-b3">
            <a:extLst xmlns:a="http://schemas.openxmlformats.org/drawingml/2006/main">
              <a:ext uri="{FF2B5EF4-FFF2-40B4-BE49-F238E27FC236}">
                <a16:creationId xmlns:a16="http://schemas.microsoft.com/office/drawing/2014/main" id="{EB873435-E425-449E-BD5E-E1F1DE0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103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Gateway operator console 已落地，后续需要明确多人协作和跨页面确认动作边界。</a:t>
            </a:r>
          </a:p>
        </p:txBody>
      </p:sp>
      <p:sp>
        <p:nvSpPr>
          <p:cNvPr id="12" name="limit-b4-mark">
            <a:extLst xmlns:a="http://schemas.openxmlformats.org/drawingml/2006/main">
              <a:ext uri="{FF2B5EF4-FFF2-40B4-BE49-F238E27FC236}">
                <a16:creationId xmlns:a16="http://schemas.microsoft.com/office/drawing/2014/main" id="{E28C018C-4D5B-4B7B-9BC7-517D4605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3434"/>
          </a:solidFill>
        </p:spPr>
      </p:sp>
      <p:sp>
        <p:nvSpPr>
          <p:cNvPr id="13" name="limit-b4">
            <a:extLst xmlns:a="http://schemas.openxmlformats.org/drawingml/2006/main">
              <a:ext uri="{FF2B5EF4-FFF2-40B4-BE49-F238E27FC236}">
                <a16:creationId xmlns:a16="http://schemas.microsoft.com/office/drawing/2014/main" id="{78AEC03E-95DC-4E15-A9EF-9CAFAE0E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056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A17"/>
                </a:solidFill>
              </a:defRPr>
            </a:pPr>
            <a:r>
              <a:rPr sz="1800">
                <a:solidFill>
                  <a:srgbClr val="171A17"/>
                </a:solidFill>
              </a:rPr>
              <a:t>公开入口以 GitHub 仓库为准，继续清理历史域名和历史命名残留。</a:t>
            </a:r>
          </a:p>
        </p:txBody>
      </p:sp>
      <p:sp>
        <p:nvSpPr>
          <p:cNvPr id="14" name="limits-closing">
            <a:extLst xmlns:a="http://schemas.openxmlformats.org/drawingml/2006/main">
              <a:ext uri="{FF2B5EF4-FFF2-40B4-BE49-F238E27FC236}">
                <a16:creationId xmlns:a16="http://schemas.microsoft.com/office/drawing/2014/main" id="{BBD0FC45-9C75-4E52-9C5C-A2DFC44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592" y="3044190"/>
            <a:ext cx="7661108" cy="6099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3A"/>
          </a:solidFill>
        </p:spPr>
      </p:sp>
      <p:sp>
        <p:nvSpPr>
          <p:cNvPr id="15" name="limits-closing-label">
            <a:extLst xmlns:a="http://schemas.openxmlformats.org/drawingml/2006/main">
              <a:ext uri="{FF2B5EF4-FFF2-40B4-BE49-F238E27FC236}">
                <a16:creationId xmlns:a16="http://schemas.microsoft.com/office/drawing/2014/main" id="{3CF249E3-11D3-4D82-B852-C9B774B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7210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FC9D4"/>
                </a:solidFill>
              </a:defRPr>
            </a:pPr>
            <a:r>
              <a:rPr sz="1650" b="1">
                <a:solidFill>
                  <a:srgbClr val="9FC9D4"/>
                </a:solidFill>
              </a:rPr>
              <a:t>合理定位</a:t>
            </a:r>
          </a:p>
        </p:txBody>
      </p:sp>
      <p:sp>
        <p:nvSpPr>
          <p:cNvPr id="16" name="limits-closing-copy">
            <a:extLst xmlns:a="http://schemas.openxmlformats.org/drawingml/2006/main">
              <a:ext uri="{FF2B5EF4-FFF2-40B4-BE49-F238E27FC236}">
                <a16:creationId xmlns:a16="http://schemas.microsoft.com/office/drawing/2014/main" id="{25780993-C9D2-461B-87D8-77E26E2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67400"/>
            <a:ext cx="6858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本地优先、以任务事实和验收证据为中心的代码交付编排系统。</a:t>
            </a:r>
          </a:p>
        </p:txBody>
      </p:sp>
      <p:sp>
        <p:nvSpPr>
          <p:cNvPr id="17" name="source-10">
            <a:extLst xmlns:a="http://schemas.openxmlformats.org/drawingml/2006/main">
              <a:ext uri="{FF2B5EF4-FFF2-40B4-BE49-F238E27FC236}">
                <a16:creationId xmlns:a16="http://schemas.microsoft.com/office/drawing/2014/main" id="{E13F8BA4-F3D8-48EE-9C7B-BE05BF31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27A"/>
                </a:solidFill>
              </a:defRPr>
            </a:pPr>
            <a:r>
              <a:rPr sz="1050">
                <a:solidFill>
                  <a:srgbClr val="7A827A"/>
                </a:solidFill>
              </a:rPr>
              <a:t>Source: whitepaper section 09</a:t>
            </a:r>
          </a:p>
        </p:txBody>
      </p:sp>
      <p:sp>
        <p:nvSpPr>
          <p:cNvPr id="18" name="page-10">
            <a:extLst xmlns:a="http://schemas.openxmlformats.org/drawingml/2006/main">
              <a:ext uri="{FF2B5EF4-FFF2-40B4-BE49-F238E27FC236}">
                <a16:creationId xmlns:a16="http://schemas.microsoft.com/office/drawing/2014/main" id="{D638FCE7-817B-4D52-BD3F-0BC89F6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48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27A"/>
                </a:solidFill>
              </a:defRPr>
            </a:pPr>
            <a:r>
              <a:rPr sz="1350" b="1">
                <a:solidFill>
                  <a:srgbClr val="7A8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3744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2026-05-15T04:10:09.5960000Z</dcterms:created>
  <dcterms:modified xsi:type="dcterms:W3CDTF">2026-05-15T04:10:09.5970000Z</dcterms:modified>
</coreProperties>
</file>