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5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ver-bg">
            <a:extLst>
              <a:ext uri="{FF2B5EF4-FFF2-40B4-BE49-F238E27FC236}">
                <a16:creationId xmlns:a16="http://schemas.microsoft.com/office/drawing/2014/main" id="{F03A3BBB-A9D9-46C7-8014-088E4606CE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313A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cover-accent-field">
            <a:extLst>
              <a:ext uri="{FF2B5EF4-FFF2-40B4-BE49-F238E27FC236}">
                <a16:creationId xmlns:a16="http://schemas.microsoft.com/office/drawing/2014/main" id="{AC6F604C-AD86-474E-A14B-C6B12498F4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10287000"/>
          </a:xfrm>
          <a:prstGeom prst="rect">
            <a:avLst/>
          </a:prstGeom>
          <a:solidFill>
            <a:srgbClr val="1D5F78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cover-brand">
            <a:extLst>
              <a:ext uri="{FF2B5EF4-FFF2-40B4-BE49-F238E27FC236}">
                <a16:creationId xmlns:a16="http://schemas.microsoft.com/office/drawing/2014/main" id="{2E8C4CCD-6501-43A1-A3E3-0D1400EF174D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2476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AF3EC"/>
                </a:solidFill>
              </a:defRPr>
            </a:pPr>
            <a:r>
              <a:rPr sz="1800" b="1">
                <a:solidFill>
                  <a:srgbClr val="EAF3EC"/>
                </a:solidFill>
              </a:rPr>
              <a:t>OpenCorvus</a:t>
            </a:r>
          </a:p>
        </p:txBody>
      </p:sp>
      <p:sp>
        <p:nvSpPr>
          <p:cNvPr id="4" name="cover-date">
            <a:extLst>
              <a:ext uri="{FF2B5EF4-FFF2-40B4-BE49-F238E27FC236}">
                <a16:creationId xmlns:a16="http://schemas.microsoft.com/office/drawing/2014/main" id="{195A36AA-DA30-496E-A0F3-2108F831BF77}"/>
              </a:ext>
            </a:extLst>
          </p:cNvPr>
          <p:cNvSpPr>
            <a:spLocks noGrp="1"/>
          </p:cNvSpPr>
          <p:nvPr/>
        </p:nvSpPr>
        <p:spPr>
          <a:xfrm>
            <a:off x="13792200" y="857250"/>
            <a:ext cx="3429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>
                <a:solidFill>
                  <a:srgbClr val="B7C9C1"/>
                </a:solidFill>
              </a:defRPr>
            </a:pPr>
            <a:r>
              <a:rPr sz="1350">
                <a:solidFill>
                  <a:srgbClr val="B7C9C1"/>
                </a:solidFill>
              </a:rPr>
              <a:t>Technical Whitepaper · 2026.05</a:t>
            </a:r>
          </a:p>
        </p:txBody>
      </p:sp>
      <p:sp>
        <p:nvSpPr>
          <p:cNvPr id="5" name="cover-title-en">
            <a:extLst>
              <a:ext uri="{FF2B5EF4-FFF2-40B4-BE49-F238E27FC236}">
                <a16:creationId xmlns:a16="http://schemas.microsoft.com/office/drawing/2014/main" id="{96923BAD-392A-4FF5-BE08-625C7922759E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72390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OpenCorvus</a:t>
            </a:r>
          </a:p>
        </p:txBody>
      </p:sp>
      <p:sp>
        <p:nvSpPr>
          <p:cNvPr id="6" name="cover-title-cn">
            <a:extLst>
              <a:ext uri="{FF2B5EF4-FFF2-40B4-BE49-F238E27FC236}">
                <a16:creationId xmlns:a16="http://schemas.microsoft.com/office/drawing/2014/main" id="{135C1006-B4B7-436B-A4E2-EE37F152E99D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72390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技术白皮书</a:t>
            </a:r>
          </a:p>
        </p:txBody>
      </p:sp>
      <p:sp>
        <p:nvSpPr>
          <p:cNvPr id="7" name="cover-rule">
            <a:extLst>
              <a:ext uri="{FF2B5EF4-FFF2-40B4-BE49-F238E27FC236}">
                <a16:creationId xmlns:a16="http://schemas.microsoft.com/office/drawing/2014/main" id="{3F4B32AD-BE51-4F83-BD8A-4E701EC84560}"/>
              </a:ext>
            </a:extLst>
          </p:cNvPr>
          <p:cNvSpPr>
            <a:spLocks noGrp="1"/>
          </p:cNvSpPr>
          <p:nvPr/>
        </p:nvSpPr>
        <p:spPr>
          <a:xfrm>
            <a:off x="1066800" y="5715000"/>
            <a:ext cx="2476500" cy="47625"/>
          </a:xfrm>
          <a:prstGeom prst="rect">
            <a:avLst/>
          </a:prstGeom>
          <a:solidFill>
            <a:srgbClr val="9FC9D4"/>
          </a:solidFill>
          <a:ln w="0">
            <a:solidFill>
              <a:srgbClr val="9FC9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over-promise">
            <a:extLst>
              <a:ext uri="{FF2B5EF4-FFF2-40B4-BE49-F238E27FC236}">
                <a16:creationId xmlns:a16="http://schemas.microsoft.com/office/drawing/2014/main" id="{7F382C6B-01C8-4BB2-853A-8D9DDE1D857F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125730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D8E6DF"/>
                </a:solidFill>
              </a:defRPr>
            </a:pPr>
            <a:r>
              <a:rPr sz="2175">
                <a:solidFill>
                  <a:srgbClr val="D8E6DF"/>
                </a:solidFill>
              </a:rPr>
              <a:t>用任务事实、Goal、契约与交付判决组织长周期代码交付</a:t>
            </a:r>
          </a:p>
        </p:txBody>
      </p:sp>
      <p:sp>
        <p:nvSpPr>
          <p:cNvPr id="9" name="cover-scope">
            <a:extLst>
              <a:ext uri="{FF2B5EF4-FFF2-40B4-BE49-F238E27FC236}">
                <a16:creationId xmlns:a16="http://schemas.microsoft.com/office/drawing/2014/main" id="{9F010C39-8A13-48D8-82B3-51D1754F2BE3}"/>
              </a:ext>
            </a:extLst>
          </p:cNvPr>
          <p:cNvSpPr>
            <a:spLocks noGrp="1"/>
          </p:cNvSpPr>
          <p:nvPr/>
        </p:nvSpPr>
        <p:spPr>
          <a:xfrm>
            <a:off x="1066800" y="9048750"/>
            <a:ext cx="15068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7C9C1"/>
                </a:solidFill>
              </a:defRPr>
            </a:pPr>
            <a:r>
              <a:rPr sz="1350">
                <a:solidFill>
                  <a:srgbClr val="B7C9C1"/>
                </a:solidFill>
              </a:rPr>
              <a:t>Scope: database / frontend / backend / orchestration / deployment</a:t>
            </a:r>
          </a:p>
        </p:txBody>
      </p:sp>
      <p:sp>
        <p:nvSpPr>
          <p:cNvPr id="10" name="cover-license">
            <a:extLst>
              <a:ext uri="{FF2B5EF4-FFF2-40B4-BE49-F238E27FC236}">
                <a16:creationId xmlns:a16="http://schemas.microsoft.com/office/drawing/2014/main" id="{5D5D481C-9C5A-451C-80A9-09B7076D2C3F}"/>
              </a:ext>
            </a:extLst>
          </p:cNvPr>
          <p:cNvSpPr>
            <a:spLocks noGrp="1"/>
          </p:cNvSpPr>
          <p:nvPr/>
        </p:nvSpPr>
        <p:spPr>
          <a:xfrm>
            <a:off x="16402050" y="9048750"/>
            <a:ext cx="8191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7C9C1"/>
                </a:solidFill>
              </a:defRPr>
            </a:pPr>
            <a:r>
              <a:rPr sz="1350">
                <a:solidFill>
                  <a:srgbClr val="B7C9C1"/>
                </a:solidFill>
              </a:rPr>
              <a:t>MIT License</a:t>
            </a:r>
          </a:p>
        </p:txBody>
      </p:sp>
    </p:spTree>
    <p:extLst>
      <p:ext uri="{BB962C8B-B14F-4D97-AF65-F5344CB8AC3E}">
        <p14:creationId xmlns:p14="http://schemas.microsoft.com/office/powerpoint/2010/main" val="146881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nvas">
            <a:extLst>
              <a:ext uri="{FF2B5EF4-FFF2-40B4-BE49-F238E27FC236}">
                <a16:creationId xmlns:a16="http://schemas.microsoft.com/office/drawing/2014/main" id="{DC65B271-EF5F-411F-A57B-4B1EB3401B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Problem Boundary-rule">
            <a:extLst>
              <a:ext uri="{FF2B5EF4-FFF2-40B4-BE49-F238E27FC236}">
                <a16:creationId xmlns:a16="http://schemas.microsoft.com/office/drawing/2014/main" id="{1F911BA6-6874-4EE7-B3BE-0B40690BF2B8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Problem Boundary-label">
            <a:extLst>
              <a:ext uri="{FF2B5EF4-FFF2-40B4-BE49-F238E27FC236}">
                <a16:creationId xmlns:a16="http://schemas.microsoft.com/office/drawing/2014/main" id="{557CAB4C-9E64-4A3F-A3BA-188A7BE2DE41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Problem Boundary</a:t>
            </a:r>
          </a:p>
        </p:txBody>
      </p:sp>
      <p:sp>
        <p:nvSpPr>
          <p:cNvPr id="4" name="slide-title-2">
            <a:extLst>
              <a:ext uri="{FF2B5EF4-FFF2-40B4-BE49-F238E27FC236}">
                <a16:creationId xmlns:a16="http://schemas.microsoft.com/office/drawing/2014/main" id="{EAB9463B-163A-4192-B3B8-A90888AC5011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123444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 dirty="0" err="1">
                <a:solidFill>
                  <a:srgbClr val="171A17"/>
                </a:solidFill>
              </a:rPr>
              <a:t>问题边界：可</a:t>
            </a:r>
            <a:r>
              <a:rPr lang="zh-CN" altLang="en-US" sz="4050" b="1" dirty="0">
                <a:solidFill>
                  <a:srgbClr val="171A17"/>
                </a:solidFill>
              </a:rPr>
              <a:t>靠</a:t>
            </a:r>
            <a:r>
              <a:rPr sz="4050" b="1" dirty="0" err="1">
                <a:solidFill>
                  <a:srgbClr val="171A17"/>
                </a:solidFill>
              </a:rPr>
              <a:t>的代码交付任务</a:t>
            </a:r>
            <a:endParaRPr sz="4050" b="1" dirty="0">
              <a:solidFill>
                <a:srgbClr val="171A17"/>
              </a:solidFill>
            </a:endParaRPr>
          </a:p>
        </p:txBody>
      </p:sp>
      <p:sp>
        <p:nvSpPr>
          <p:cNvPr id="5" name="slide-subtitle-2">
            <a:extLst>
              <a:ext uri="{FF2B5EF4-FFF2-40B4-BE49-F238E27FC236}">
                <a16:creationId xmlns:a16="http://schemas.microsoft.com/office/drawing/2014/main" id="{21E7C1AA-B883-4ADC-95A4-AA45129B7F7D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94869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 dirty="0" err="1">
                <a:solidFill>
                  <a:srgbClr val="59615B"/>
                </a:solidFill>
              </a:rPr>
              <a:t>模型输出只是事实链中的一类材料；需求、Goal、契约、审计和用户后续消息都必须保留</a:t>
            </a:r>
            <a:endParaRPr sz="1875" dirty="0">
              <a:solidFill>
                <a:srgbClr val="59615B"/>
              </a:solidFill>
            </a:endParaRPr>
          </a:p>
        </p:txBody>
      </p:sp>
      <p:sp>
        <p:nvSpPr>
          <p:cNvPr id="6" name="problem-b1-mark">
            <a:extLst>
              <a:ext uri="{FF2B5EF4-FFF2-40B4-BE49-F238E27FC236}">
                <a16:creationId xmlns:a16="http://schemas.microsoft.com/office/drawing/2014/main" id="{B49CF9A0-E8BB-4226-86FB-DE0B3ED2FC4B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95250" cy="95250"/>
          </a:xfrm>
          <a:prstGeom prst="rect">
            <a:avLst/>
          </a:prstGeom>
          <a:solidFill>
            <a:srgbClr val="1D5F78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problem-b1">
            <a:extLst>
              <a:ext uri="{FF2B5EF4-FFF2-40B4-BE49-F238E27FC236}">
                <a16:creationId xmlns:a16="http://schemas.microsoft.com/office/drawing/2014/main" id="{6EFEA953-616C-4231-87F0-69850A66DA29}"/>
              </a:ext>
            </a:extLst>
          </p:cNvPr>
          <p:cNvSpPr>
            <a:spLocks noGrp="1"/>
          </p:cNvSpPr>
          <p:nvPr/>
        </p:nvSpPr>
        <p:spPr>
          <a:xfrm>
            <a:off x="1123950" y="5048250"/>
            <a:ext cx="6686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 err="1">
                <a:solidFill>
                  <a:srgbClr val="171A17"/>
                </a:solidFill>
              </a:rPr>
              <a:t>用户请求、意图分析、需求条目、架构</a:t>
            </a:r>
            <a:r>
              <a:rPr sz="1800" dirty="0">
                <a:solidFill>
                  <a:srgbClr val="171A17"/>
                </a:solidFill>
              </a:rPr>
              <a:t> </a:t>
            </a:r>
            <a:r>
              <a:rPr sz="1800" dirty="0" err="1">
                <a:solidFill>
                  <a:srgbClr val="171A17"/>
                </a:solidFill>
              </a:rPr>
              <a:t>Goal、Acceptance</a:t>
            </a:r>
            <a:r>
              <a:rPr sz="1800" dirty="0">
                <a:solidFill>
                  <a:srgbClr val="171A17"/>
                </a:solidFill>
              </a:rPr>
              <a:t> </a:t>
            </a:r>
            <a:r>
              <a:rPr sz="1800" dirty="0" err="1">
                <a:solidFill>
                  <a:srgbClr val="171A17"/>
                </a:solidFill>
              </a:rPr>
              <a:t>Spec、构建结果和交付判决进入同一任务上下文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sp>
        <p:nvSpPr>
          <p:cNvPr id="8" name="problem-b2-mark">
            <a:extLst>
              <a:ext uri="{FF2B5EF4-FFF2-40B4-BE49-F238E27FC236}">
                <a16:creationId xmlns:a16="http://schemas.microsoft.com/office/drawing/2014/main" id="{18994A2A-2FE6-46FC-8918-04148256BB1E}"/>
              </a:ext>
            </a:extLst>
          </p:cNvPr>
          <p:cNvSpPr>
            <a:spLocks noGrp="1"/>
          </p:cNvSpPr>
          <p:nvPr/>
        </p:nvSpPr>
        <p:spPr>
          <a:xfrm>
            <a:off x="876300" y="5829300"/>
            <a:ext cx="95250" cy="95250"/>
          </a:xfrm>
          <a:prstGeom prst="rect">
            <a:avLst/>
          </a:prstGeom>
          <a:solidFill>
            <a:srgbClr val="2F6F53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roblem-b2">
            <a:extLst>
              <a:ext uri="{FF2B5EF4-FFF2-40B4-BE49-F238E27FC236}">
                <a16:creationId xmlns:a16="http://schemas.microsoft.com/office/drawing/2014/main" id="{BAD757A7-44FD-482F-8267-92F7074D16CE}"/>
              </a:ext>
            </a:extLst>
          </p:cNvPr>
          <p:cNvSpPr>
            <a:spLocks noGrp="1"/>
          </p:cNvSpPr>
          <p:nvPr/>
        </p:nvSpPr>
        <p:spPr>
          <a:xfrm>
            <a:off x="1123950" y="5829300"/>
            <a:ext cx="66865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>
                <a:solidFill>
                  <a:srgbClr val="171A17"/>
                </a:solidFill>
              </a:rPr>
              <a:t>Orchestrator </a:t>
            </a:r>
            <a:r>
              <a:rPr sz="1800" dirty="0" err="1">
                <a:solidFill>
                  <a:srgbClr val="171A17"/>
                </a:solidFill>
              </a:rPr>
              <a:t>每次唤醒时读取事实并选择工具，任务生命周期不依赖代码层硬编码状态机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sp>
        <p:nvSpPr>
          <p:cNvPr id="10" name="problem-b3-mark">
            <a:extLst>
              <a:ext uri="{FF2B5EF4-FFF2-40B4-BE49-F238E27FC236}">
                <a16:creationId xmlns:a16="http://schemas.microsoft.com/office/drawing/2014/main" id="{FED9277C-8EF3-4DDA-B06E-549E9BB6E1E5}"/>
              </a:ext>
            </a:extLst>
          </p:cNvPr>
          <p:cNvSpPr>
            <a:spLocks noGrp="1"/>
          </p:cNvSpPr>
          <p:nvPr/>
        </p:nvSpPr>
        <p:spPr>
          <a:xfrm>
            <a:off x="876300" y="6877050"/>
            <a:ext cx="95250" cy="95250"/>
          </a:xfrm>
          <a:prstGeom prst="rect">
            <a:avLst/>
          </a:prstGeom>
          <a:solidFill>
            <a:srgbClr val="8A5A1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roblem-b3">
            <a:extLst>
              <a:ext uri="{FF2B5EF4-FFF2-40B4-BE49-F238E27FC236}">
                <a16:creationId xmlns:a16="http://schemas.microsoft.com/office/drawing/2014/main" id="{064A80D0-B835-4268-8208-5E21BC63682A}"/>
              </a:ext>
            </a:extLst>
          </p:cNvPr>
          <p:cNvSpPr>
            <a:spLocks noGrp="1"/>
          </p:cNvSpPr>
          <p:nvPr/>
        </p:nvSpPr>
        <p:spPr>
          <a:xfrm>
            <a:off x="1123950" y="6877050"/>
            <a:ext cx="6686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 err="1">
                <a:solidFill>
                  <a:srgbClr val="171A17"/>
                </a:solidFill>
              </a:rPr>
              <a:t>用户消息是继续推进任务的真实事件；不能清空上下文，也不能要求用户重新发起任务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pic>
        <p:nvPicPr>
          <p:cNvPr id="12" name="agent-comparison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37085" y="3329940"/>
            <a:ext cx="7752080" cy="5814060"/>
          </a:xfrm>
          <a:prstGeom prst="rect">
            <a:avLst/>
          </a:prstGeom>
        </p:spPr>
      </p:pic>
      <p:sp>
        <p:nvSpPr>
          <p:cNvPr id="13" name="source-2">
            <a:extLst>
              <a:ext uri="{FF2B5EF4-FFF2-40B4-BE49-F238E27FC236}">
                <a16:creationId xmlns:a16="http://schemas.microsoft.com/office/drawing/2014/main" id="{15017ED7-EF42-45F2-AB58-B44DB61E0D5F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01 and assets/agent-comparison.png</a:t>
            </a:r>
          </a:p>
        </p:txBody>
      </p:sp>
      <p:sp>
        <p:nvSpPr>
          <p:cNvPr id="14" name="page-2">
            <a:extLst>
              <a:ext uri="{FF2B5EF4-FFF2-40B4-BE49-F238E27FC236}">
                <a16:creationId xmlns:a16="http://schemas.microsoft.com/office/drawing/2014/main" id="{C3EAF009-017B-4820-BC1F-8CA1F82EBDB5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625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anvas">
            <a:extLst>
              <a:ext uri="{FF2B5EF4-FFF2-40B4-BE49-F238E27FC236}">
                <a16:creationId xmlns:a16="http://schemas.microsoft.com/office/drawing/2014/main" id="{ED3992A7-504A-4B44-85D1-D890AF67EB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Engineering Scale-rule">
            <a:extLst>
              <a:ext uri="{FF2B5EF4-FFF2-40B4-BE49-F238E27FC236}">
                <a16:creationId xmlns:a16="http://schemas.microsoft.com/office/drawing/2014/main" id="{A4D4B10F-136C-498E-AF75-B6A17D394B5F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Engineering Scale-label">
            <a:extLst>
              <a:ext uri="{FF2B5EF4-FFF2-40B4-BE49-F238E27FC236}">
                <a16:creationId xmlns:a16="http://schemas.microsoft.com/office/drawing/2014/main" id="{8B7F8279-E164-4F8F-B754-69074660DDE0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Engineering Scale</a:t>
            </a:r>
          </a:p>
        </p:txBody>
      </p:sp>
      <p:sp>
        <p:nvSpPr>
          <p:cNvPr id="4" name="slide-title-3">
            <a:extLst>
              <a:ext uri="{FF2B5EF4-FFF2-40B4-BE49-F238E27FC236}">
                <a16:creationId xmlns:a16="http://schemas.microsoft.com/office/drawing/2014/main" id="{5AE7EF4F-E185-4DAF-ADF0-1B21EE3422F7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97726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lang="zh-CN" altLang="en-US" sz="4050" b="1" dirty="0">
                <a:solidFill>
                  <a:srgbClr val="171A17"/>
                </a:solidFill>
              </a:rPr>
              <a:t>开发数据</a:t>
            </a:r>
            <a:endParaRPr sz="4050" b="1" dirty="0">
              <a:solidFill>
                <a:srgbClr val="171A17"/>
              </a:solidFill>
            </a:endParaRPr>
          </a:p>
        </p:txBody>
      </p:sp>
      <p:sp>
        <p:nvSpPr>
          <p:cNvPr id="5" name="slide-subtitle-3">
            <a:extLst>
              <a:ext uri="{FF2B5EF4-FFF2-40B4-BE49-F238E27FC236}">
                <a16:creationId xmlns:a16="http://schemas.microsoft.com/office/drawing/2014/main" id="{B80FC450-06C6-4B19-93B5-B370841F5805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8401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 dirty="0" err="1">
                <a:solidFill>
                  <a:srgbClr val="59615B"/>
                </a:solidFill>
              </a:rPr>
              <a:t>全仓历史与</a:t>
            </a:r>
            <a:r>
              <a:rPr sz="1875" dirty="0">
                <a:solidFill>
                  <a:srgbClr val="59615B"/>
                </a:solidFill>
              </a:rPr>
              <a:t> </a:t>
            </a:r>
            <a:r>
              <a:rPr sz="1875" dirty="0" err="1">
                <a:solidFill>
                  <a:srgbClr val="59615B"/>
                </a:solidFill>
              </a:rPr>
              <a:t>OpenCorvus</a:t>
            </a:r>
            <a:r>
              <a:rPr sz="1875" dirty="0">
                <a:solidFill>
                  <a:srgbClr val="59615B"/>
                </a:solidFill>
              </a:rPr>
              <a:t> </a:t>
            </a:r>
            <a:r>
              <a:rPr sz="1875" dirty="0" err="1">
                <a:solidFill>
                  <a:srgbClr val="59615B"/>
                </a:solidFill>
              </a:rPr>
              <a:t>自身路径贡献分开看</a:t>
            </a:r>
            <a:r>
              <a:rPr sz="1875" dirty="0">
                <a:solidFill>
                  <a:srgbClr val="59615B"/>
                </a:solidFill>
              </a:rPr>
              <a:t>。</a:t>
            </a:r>
          </a:p>
        </p:txBody>
      </p:sp>
      <p:sp>
        <p:nvSpPr>
          <p:cNvPr id="6" name="m1-panel">
            <a:extLst>
              <a:ext uri="{FF2B5EF4-FFF2-40B4-BE49-F238E27FC236}">
                <a16:creationId xmlns:a16="http://schemas.microsoft.com/office/drawing/2014/main" id="{D9ED62DD-7AE5-450D-A52E-F9F13943A3FD}"/>
              </a:ext>
            </a:extLst>
          </p:cNvPr>
          <p:cNvSpPr>
            <a:spLocks noGrp="1"/>
          </p:cNvSpPr>
          <p:nvPr/>
        </p:nvSpPr>
        <p:spPr>
          <a:xfrm>
            <a:off x="876300" y="2712720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m1-value">
            <a:extLst>
              <a:ext uri="{FF2B5EF4-FFF2-40B4-BE49-F238E27FC236}">
                <a16:creationId xmlns:a16="http://schemas.microsoft.com/office/drawing/2014/main" id="{5E976E24-50F9-48CC-B36F-18855ACBAD25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1D5F78"/>
                </a:solidFill>
              </a:defRPr>
            </a:pPr>
            <a:r>
              <a:rPr sz="4650" b="1">
                <a:solidFill>
                  <a:srgbClr val="1D5F78"/>
                </a:solidFill>
              </a:rPr>
              <a:t>1,507</a:t>
            </a:r>
          </a:p>
        </p:txBody>
      </p:sp>
      <p:sp>
        <p:nvSpPr>
          <p:cNvPr id="8" name="m1-label">
            <a:extLst>
              <a:ext uri="{FF2B5EF4-FFF2-40B4-BE49-F238E27FC236}">
                <a16:creationId xmlns:a16="http://schemas.microsoft.com/office/drawing/2014/main" id="{83ECC43A-19E2-49E6-B748-5E7FEFA4670D}"/>
              </a:ext>
            </a:extLst>
          </p:cNvPr>
          <p:cNvSpPr>
            <a:spLocks noGrp="1"/>
          </p:cNvSpPr>
          <p:nvPr/>
        </p:nvSpPr>
        <p:spPr>
          <a:xfrm>
            <a:off x="1104900" y="441960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packages/opencorvus commits</a:t>
            </a:r>
          </a:p>
        </p:txBody>
      </p:sp>
      <p:sp>
        <p:nvSpPr>
          <p:cNvPr id="9" name="m1-note">
            <a:extLst>
              <a:ext uri="{FF2B5EF4-FFF2-40B4-BE49-F238E27FC236}">
                <a16:creationId xmlns:a16="http://schemas.microsoft.com/office/drawing/2014/main" id="{05FB151A-4B75-49BF-B8C5-276D040D4169}"/>
              </a:ext>
            </a:extLst>
          </p:cNvPr>
          <p:cNvSpPr>
            <a:spLocks noGrp="1"/>
          </p:cNvSpPr>
          <p:nvPr/>
        </p:nvSpPr>
        <p:spPr>
          <a:xfrm>
            <a:off x="1104900" y="54483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路径相关 commit，不计 fork 前上游历史</a:t>
            </a:r>
          </a:p>
        </p:txBody>
      </p:sp>
      <p:sp>
        <p:nvSpPr>
          <p:cNvPr id="10" name="m2-panel">
            <a:extLst>
              <a:ext uri="{FF2B5EF4-FFF2-40B4-BE49-F238E27FC236}">
                <a16:creationId xmlns:a16="http://schemas.microsoft.com/office/drawing/2014/main" id="{E4B05797-7F71-44CD-8F9E-AC4808E8674A}"/>
              </a:ext>
            </a:extLst>
          </p:cNvPr>
          <p:cNvSpPr>
            <a:spLocks noGrp="1"/>
          </p:cNvSpPr>
          <p:nvPr/>
        </p:nvSpPr>
        <p:spPr>
          <a:xfrm>
            <a:off x="5053013" y="2712720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m2-value">
            <a:extLst>
              <a:ext uri="{FF2B5EF4-FFF2-40B4-BE49-F238E27FC236}">
                <a16:creationId xmlns:a16="http://schemas.microsoft.com/office/drawing/2014/main" id="{223B29B1-ED5E-4E04-930A-311D4685DFA2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2F6F53"/>
                </a:solidFill>
              </a:defRPr>
            </a:pPr>
            <a:r>
              <a:rPr sz="4650" b="1">
                <a:solidFill>
                  <a:srgbClr val="2F6F53"/>
                </a:solidFill>
              </a:rPr>
              <a:t>196</a:t>
            </a:r>
          </a:p>
        </p:txBody>
      </p:sp>
      <p:sp>
        <p:nvSpPr>
          <p:cNvPr id="12" name="m2-label">
            <a:extLst>
              <a:ext uri="{FF2B5EF4-FFF2-40B4-BE49-F238E27FC236}">
                <a16:creationId xmlns:a16="http://schemas.microsoft.com/office/drawing/2014/main" id="{CDCC1E9E-3BE2-4EDD-AF15-A5BF6934609A}"/>
              </a:ext>
            </a:extLst>
          </p:cNvPr>
          <p:cNvSpPr>
            <a:spLocks noGrp="1"/>
          </p:cNvSpPr>
          <p:nvPr/>
        </p:nvSpPr>
        <p:spPr>
          <a:xfrm>
            <a:off x="5276850" y="441960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2026-W20 core commits</a:t>
            </a:r>
          </a:p>
        </p:txBody>
      </p:sp>
      <p:sp>
        <p:nvSpPr>
          <p:cNvPr id="13" name="m2-note">
            <a:extLst>
              <a:ext uri="{FF2B5EF4-FFF2-40B4-BE49-F238E27FC236}">
                <a16:creationId xmlns:a16="http://schemas.microsoft.com/office/drawing/2014/main" id="{BD086F19-6853-4760-BA98-81625C37883C}"/>
              </a:ext>
            </a:extLst>
          </p:cNvPr>
          <p:cNvSpPr>
            <a:spLocks noGrp="1"/>
          </p:cNvSpPr>
          <p:nvPr/>
        </p:nvSpPr>
        <p:spPr>
          <a:xfrm>
            <a:off x="5276850" y="54483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范围含 core / overlay / channel-runtime / docs</a:t>
            </a:r>
          </a:p>
        </p:txBody>
      </p:sp>
      <p:sp>
        <p:nvSpPr>
          <p:cNvPr id="14" name="m3-panel">
            <a:extLst>
              <a:ext uri="{FF2B5EF4-FFF2-40B4-BE49-F238E27FC236}">
                <a16:creationId xmlns:a16="http://schemas.microsoft.com/office/drawing/2014/main" id="{7DD94ED6-C994-41C3-B987-1A99FF52E8C5}"/>
              </a:ext>
            </a:extLst>
          </p:cNvPr>
          <p:cNvSpPr>
            <a:spLocks noGrp="1"/>
          </p:cNvSpPr>
          <p:nvPr/>
        </p:nvSpPr>
        <p:spPr>
          <a:xfrm>
            <a:off x="9229725" y="2712720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m3-value">
            <a:extLst>
              <a:ext uri="{FF2B5EF4-FFF2-40B4-BE49-F238E27FC236}">
                <a16:creationId xmlns:a16="http://schemas.microsoft.com/office/drawing/2014/main" id="{E3E3BF8B-9A72-4548-900D-2E261D4DA34C}"/>
              </a:ext>
            </a:extLst>
          </p:cNvPr>
          <p:cNvSpPr>
            <a:spLocks noGrp="1"/>
          </p:cNvSpPr>
          <p:nvPr/>
        </p:nvSpPr>
        <p:spPr>
          <a:xfrm>
            <a:off x="9467850" y="29146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8A5A12"/>
                </a:solidFill>
              </a:defRPr>
            </a:pPr>
            <a:r>
              <a:rPr sz="4650" b="1">
                <a:solidFill>
                  <a:srgbClr val="8A5A12"/>
                </a:solidFill>
              </a:rPr>
              <a:t>44</a:t>
            </a:r>
          </a:p>
        </p:txBody>
      </p:sp>
      <p:sp>
        <p:nvSpPr>
          <p:cNvPr id="16" name="m3-label">
            <a:extLst>
              <a:ext uri="{FF2B5EF4-FFF2-40B4-BE49-F238E27FC236}">
                <a16:creationId xmlns:a16="http://schemas.microsoft.com/office/drawing/2014/main" id="{D857B159-E6C1-43D0-BFB0-CFE285F9F402}"/>
              </a:ext>
            </a:extLst>
          </p:cNvPr>
          <p:cNvSpPr>
            <a:spLocks noGrp="1"/>
          </p:cNvSpPr>
          <p:nvPr/>
        </p:nvSpPr>
        <p:spPr>
          <a:xfrm>
            <a:off x="9467850" y="441960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SQLite tables</a:t>
            </a:r>
          </a:p>
        </p:txBody>
      </p:sp>
      <p:sp>
        <p:nvSpPr>
          <p:cNvPr id="17" name="m3-note">
            <a:extLst>
              <a:ext uri="{FF2B5EF4-FFF2-40B4-BE49-F238E27FC236}">
                <a16:creationId xmlns:a16="http://schemas.microsoft.com/office/drawing/2014/main" id="{43C2D44E-7F08-41CD-82EC-872B9A5E4CA0}"/>
              </a:ext>
            </a:extLst>
          </p:cNvPr>
          <p:cNvSpPr>
            <a:spLocks noGrp="1"/>
          </p:cNvSpPr>
          <p:nvPr/>
        </p:nvSpPr>
        <p:spPr>
          <a:xfrm>
            <a:off x="9467850" y="54483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集中定义于 storage/ddl.ts</a:t>
            </a:r>
          </a:p>
        </p:txBody>
      </p:sp>
      <p:sp>
        <p:nvSpPr>
          <p:cNvPr id="18" name="m4-panel">
            <a:extLst>
              <a:ext uri="{FF2B5EF4-FFF2-40B4-BE49-F238E27FC236}">
                <a16:creationId xmlns:a16="http://schemas.microsoft.com/office/drawing/2014/main" id="{03586576-C894-450D-B92D-9F7F973E3829}"/>
              </a:ext>
            </a:extLst>
          </p:cNvPr>
          <p:cNvSpPr>
            <a:spLocks noGrp="1"/>
          </p:cNvSpPr>
          <p:nvPr/>
        </p:nvSpPr>
        <p:spPr>
          <a:xfrm>
            <a:off x="13406438" y="2712720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m4-value">
            <a:extLst>
              <a:ext uri="{FF2B5EF4-FFF2-40B4-BE49-F238E27FC236}">
                <a16:creationId xmlns:a16="http://schemas.microsoft.com/office/drawing/2014/main" id="{CC6BC17F-48E1-4BC1-8E17-F8B03D7EA924}"/>
              </a:ext>
            </a:extLst>
          </p:cNvPr>
          <p:cNvSpPr>
            <a:spLocks noGrp="1"/>
          </p:cNvSpPr>
          <p:nvPr/>
        </p:nvSpPr>
        <p:spPr>
          <a:xfrm>
            <a:off x="13639800" y="29146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9F3434"/>
                </a:solidFill>
              </a:defRPr>
            </a:pPr>
            <a:r>
              <a:rPr sz="4650" b="1">
                <a:solidFill>
                  <a:srgbClr val="9F3434"/>
                </a:solidFill>
              </a:rPr>
              <a:t>21</a:t>
            </a:r>
          </a:p>
        </p:txBody>
      </p:sp>
      <p:sp>
        <p:nvSpPr>
          <p:cNvPr id="20" name="m4-label">
            <a:extLst>
              <a:ext uri="{FF2B5EF4-FFF2-40B4-BE49-F238E27FC236}">
                <a16:creationId xmlns:a16="http://schemas.microsoft.com/office/drawing/2014/main" id="{A306542C-7B83-411D-8E4C-1C4EA8EC2F49}"/>
              </a:ext>
            </a:extLst>
          </p:cNvPr>
          <p:cNvSpPr>
            <a:spLocks noGrp="1"/>
          </p:cNvSpPr>
          <p:nvPr/>
        </p:nvSpPr>
        <p:spPr>
          <a:xfrm>
            <a:off x="13639800" y="441960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Orchestrator tools</a:t>
            </a:r>
          </a:p>
        </p:txBody>
      </p:sp>
      <p:sp>
        <p:nvSpPr>
          <p:cNvPr id="21" name="m4-note">
            <a:extLst>
              <a:ext uri="{FF2B5EF4-FFF2-40B4-BE49-F238E27FC236}">
                <a16:creationId xmlns:a16="http://schemas.microsoft.com/office/drawing/2014/main" id="{0C9EF1F4-8437-4C47-9877-A4E4FB52BCA8}"/>
              </a:ext>
            </a:extLst>
          </p:cNvPr>
          <p:cNvSpPr>
            <a:spLocks noGrp="1"/>
          </p:cNvSpPr>
          <p:nvPr/>
        </p:nvSpPr>
        <p:spPr>
          <a:xfrm>
            <a:off x="13639800" y="54483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真实工具名来自 orchestrator/tools.ts</a:t>
            </a:r>
          </a:p>
        </p:txBody>
      </p:sp>
      <p:sp>
        <p:nvSpPr>
          <p:cNvPr id="22" name="m5-panel">
            <a:extLst>
              <a:ext uri="{FF2B5EF4-FFF2-40B4-BE49-F238E27FC236}">
                <a16:creationId xmlns:a16="http://schemas.microsoft.com/office/drawing/2014/main" id="{65F93594-292F-4580-97A4-F275CF3DC01F}"/>
              </a:ext>
            </a:extLst>
          </p:cNvPr>
          <p:cNvSpPr>
            <a:spLocks noGrp="1"/>
          </p:cNvSpPr>
          <p:nvPr/>
        </p:nvSpPr>
        <p:spPr>
          <a:xfrm>
            <a:off x="876300" y="6014085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23" name="m5-value">
            <a:extLst>
              <a:ext uri="{FF2B5EF4-FFF2-40B4-BE49-F238E27FC236}">
                <a16:creationId xmlns:a16="http://schemas.microsoft.com/office/drawing/2014/main" id="{FAD99F33-DB54-48A2-9DE2-F93589AD0ACA}"/>
              </a:ext>
            </a:extLst>
          </p:cNvPr>
          <p:cNvSpPr>
            <a:spLocks noGrp="1"/>
          </p:cNvSpPr>
          <p:nvPr/>
        </p:nvSpPr>
        <p:spPr>
          <a:xfrm>
            <a:off x="1104900" y="62293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1D5F78"/>
                </a:solidFill>
              </a:defRPr>
            </a:pPr>
            <a:r>
              <a:rPr sz="4650" b="1">
                <a:solidFill>
                  <a:srgbClr val="1D5F78"/>
                </a:solidFill>
              </a:rPr>
              <a:t>9</a:t>
            </a:r>
          </a:p>
        </p:txBody>
      </p:sp>
      <p:sp>
        <p:nvSpPr>
          <p:cNvPr id="24" name="m5-label">
            <a:extLst>
              <a:ext uri="{FF2B5EF4-FFF2-40B4-BE49-F238E27FC236}">
                <a16:creationId xmlns:a16="http://schemas.microsoft.com/office/drawing/2014/main" id="{B88BD87D-5F72-4929-B0AF-289EC1BCAB32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Agent entries</a:t>
            </a:r>
          </a:p>
        </p:txBody>
      </p:sp>
      <p:sp>
        <p:nvSpPr>
          <p:cNvPr id="25" name="m5-note">
            <a:extLst>
              <a:ext uri="{FF2B5EF4-FFF2-40B4-BE49-F238E27FC236}">
                <a16:creationId xmlns:a16="http://schemas.microsoft.com/office/drawing/2014/main" id="{BB59A513-AB46-4A11-B15A-B053A935A335}"/>
              </a:ext>
            </a:extLst>
          </p:cNvPr>
          <p:cNvSpPr>
            <a:spLocks noGrp="1"/>
          </p:cNvSpPr>
          <p:nvPr/>
        </p:nvSpPr>
        <p:spPr>
          <a:xfrm>
            <a:off x="1104900" y="87439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外向 Agent 入口与核心 prompt</a:t>
            </a:r>
          </a:p>
        </p:txBody>
      </p:sp>
      <p:sp>
        <p:nvSpPr>
          <p:cNvPr id="26" name="m6-panel">
            <a:extLst>
              <a:ext uri="{FF2B5EF4-FFF2-40B4-BE49-F238E27FC236}">
                <a16:creationId xmlns:a16="http://schemas.microsoft.com/office/drawing/2014/main" id="{8775DD2F-D644-415E-943F-B2EE65268238}"/>
              </a:ext>
            </a:extLst>
          </p:cNvPr>
          <p:cNvSpPr>
            <a:spLocks noGrp="1"/>
          </p:cNvSpPr>
          <p:nvPr/>
        </p:nvSpPr>
        <p:spPr>
          <a:xfrm>
            <a:off x="5053013" y="6014085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27" name="m6-value">
            <a:extLst>
              <a:ext uri="{FF2B5EF4-FFF2-40B4-BE49-F238E27FC236}">
                <a16:creationId xmlns:a16="http://schemas.microsoft.com/office/drawing/2014/main" id="{B343EC24-375C-4C26-BD08-56A4BD39D9AF}"/>
              </a:ext>
            </a:extLst>
          </p:cNvPr>
          <p:cNvSpPr>
            <a:spLocks noGrp="1"/>
          </p:cNvSpPr>
          <p:nvPr/>
        </p:nvSpPr>
        <p:spPr>
          <a:xfrm>
            <a:off x="5276850" y="62293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2F6F53"/>
                </a:solidFill>
              </a:defRPr>
            </a:pPr>
            <a:r>
              <a:rPr sz="4650" b="1">
                <a:solidFill>
                  <a:srgbClr val="2F6F53"/>
                </a:solidFill>
              </a:rPr>
              <a:t>15</a:t>
            </a:r>
          </a:p>
        </p:txBody>
      </p:sp>
      <p:sp>
        <p:nvSpPr>
          <p:cNvPr id="28" name="m6-label">
            <a:extLst>
              <a:ext uri="{FF2B5EF4-FFF2-40B4-BE49-F238E27FC236}">
                <a16:creationId xmlns:a16="http://schemas.microsoft.com/office/drawing/2014/main" id="{DB782A8E-21F3-4C51-9A9C-37FE13944432}"/>
              </a:ext>
            </a:extLst>
          </p:cNvPr>
          <p:cNvSpPr>
            <a:spLocks noGrp="1"/>
          </p:cNvSpPr>
          <p:nvPr/>
        </p:nvSpPr>
        <p:spPr>
          <a:xfrm>
            <a:off x="5276850" y="771525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Channel adapters</a:t>
            </a:r>
          </a:p>
        </p:txBody>
      </p:sp>
      <p:sp>
        <p:nvSpPr>
          <p:cNvPr id="29" name="m6-note">
            <a:extLst>
              <a:ext uri="{FF2B5EF4-FFF2-40B4-BE49-F238E27FC236}">
                <a16:creationId xmlns:a16="http://schemas.microsoft.com/office/drawing/2014/main" id="{994E58EF-9A4D-4BD8-9880-F92B19298E4D}"/>
              </a:ext>
            </a:extLst>
          </p:cNvPr>
          <p:cNvSpPr>
            <a:spLocks noGrp="1"/>
          </p:cNvSpPr>
          <p:nvPr/>
        </p:nvSpPr>
        <p:spPr>
          <a:xfrm>
            <a:off x="5276850" y="87439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覆盖 http、slack、telegram、wecom 等</a:t>
            </a:r>
          </a:p>
        </p:txBody>
      </p:sp>
      <p:sp>
        <p:nvSpPr>
          <p:cNvPr id="30" name="m7-panel">
            <a:extLst>
              <a:ext uri="{FF2B5EF4-FFF2-40B4-BE49-F238E27FC236}">
                <a16:creationId xmlns:a16="http://schemas.microsoft.com/office/drawing/2014/main" id="{6DD1304F-3B31-4E79-95D2-31141C608FF4}"/>
              </a:ext>
            </a:extLst>
          </p:cNvPr>
          <p:cNvSpPr>
            <a:spLocks noGrp="1"/>
          </p:cNvSpPr>
          <p:nvPr/>
        </p:nvSpPr>
        <p:spPr>
          <a:xfrm>
            <a:off x="9229725" y="6014085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31" name="m7-value">
            <a:extLst>
              <a:ext uri="{FF2B5EF4-FFF2-40B4-BE49-F238E27FC236}">
                <a16:creationId xmlns:a16="http://schemas.microsoft.com/office/drawing/2014/main" id="{2A8EC43E-FA5E-4B8D-B719-A5E0DA5FD65B}"/>
              </a:ext>
            </a:extLst>
          </p:cNvPr>
          <p:cNvSpPr>
            <a:spLocks noGrp="1"/>
          </p:cNvSpPr>
          <p:nvPr/>
        </p:nvSpPr>
        <p:spPr>
          <a:xfrm>
            <a:off x="9467850" y="62293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8A5A12"/>
                </a:solidFill>
              </a:defRPr>
            </a:pPr>
            <a:r>
              <a:rPr sz="4650" b="1">
                <a:solidFill>
                  <a:srgbClr val="8A5A12"/>
                </a:solidFill>
              </a:rPr>
              <a:t>76</a:t>
            </a:r>
          </a:p>
        </p:txBody>
      </p:sp>
      <p:sp>
        <p:nvSpPr>
          <p:cNvPr id="32" name="m7-label">
            <a:extLst>
              <a:ext uri="{FF2B5EF4-FFF2-40B4-BE49-F238E27FC236}">
                <a16:creationId xmlns:a16="http://schemas.microsoft.com/office/drawing/2014/main" id="{3C57F04A-76ED-4CE7-9919-9E046C85099B}"/>
              </a:ext>
            </a:extLst>
          </p:cNvPr>
          <p:cNvSpPr>
            <a:spLocks noGrp="1"/>
          </p:cNvSpPr>
          <p:nvPr/>
        </p:nvSpPr>
        <p:spPr>
          <a:xfrm>
            <a:off x="9467850" y="771525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Overlay TSX files</a:t>
            </a:r>
          </a:p>
        </p:txBody>
      </p:sp>
      <p:sp>
        <p:nvSpPr>
          <p:cNvPr id="33" name="m7-note">
            <a:extLst>
              <a:ext uri="{FF2B5EF4-FFF2-40B4-BE49-F238E27FC236}">
                <a16:creationId xmlns:a16="http://schemas.microsoft.com/office/drawing/2014/main" id="{D4617103-81B4-4F94-B972-A587527BF829}"/>
              </a:ext>
            </a:extLst>
          </p:cNvPr>
          <p:cNvSpPr>
            <a:spLocks noGrp="1"/>
          </p:cNvSpPr>
          <p:nvPr/>
        </p:nvSpPr>
        <p:spPr>
          <a:xfrm>
            <a:off x="9467850" y="87439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.ts + .tsx 合计 177</a:t>
            </a:r>
          </a:p>
        </p:txBody>
      </p:sp>
      <p:sp>
        <p:nvSpPr>
          <p:cNvPr id="34" name="m8-panel">
            <a:extLst>
              <a:ext uri="{FF2B5EF4-FFF2-40B4-BE49-F238E27FC236}">
                <a16:creationId xmlns:a16="http://schemas.microsoft.com/office/drawing/2014/main" id="{47E6AC49-0A58-4C1B-958C-B51D0A1A389B}"/>
              </a:ext>
            </a:extLst>
          </p:cNvPr>
          <p:cNvSpPr>
            <a:spLocks noGrp="1"/>
          </p:cNvSpPr>
          <p:nvPr/>
        </p:nvSpPr>
        <p:spPr>
          <a:xfrm>
            <a:off x="13406438" y="6014085"/>
            <a:ext cx="4005263" cy="312991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35" name="m8-value">
            <a:extLst>
              <a:ext uri="{FF2B5EF4-FFF2-40B4-BE49-F238E27FC236}">
                <a16:creationId xmlns:a16="http://schemas.microsoft.com/office/drawing/2014/main" id="{A560E8FB-1646-42B6-BCB6-C3426D1DBF04}"/>
              </a:ext>
            </a:extLst>
          </p:cNvPr>
          <p:cNvSpPr>
            <a:spLocks noGrp="1"/>
          </p:cNvSpPr>
          <p:nvPr/>
        </p:nvSpPr>
        <p:spPr>
          <a:xfrm>
            <a:off x="13639800" y="6229350"/>
            <a:ext cx="3543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9F3434"/>
                </a:solidFill>
              </a:defRPr>
            </a:pPr>
            <a:r>
              <a:rPr sz="4650" b="1">
                <a:solidFill>
                  <a:srgbClr val="9F3434"/>
                </a:solidFill>
              </a:rPr>
              <a:t>3</a:t>
            </a:r>
          </a:p>
        </p:txBody>
      </p:sp>
      <p:sp>
        <p:nvSpPr>
          <p:cNvPr id="36" name="m8-label">
            <a:extLst>
              <a:ext uri="{FF2B5EF4-FFF2-40B4-BE49-F238E27FC236}">
                <a16:creationId xmlns:a16="http://schemas.microsoft.com/office/drawing/2014/main" id="{B4DAFFCF-2F72-438B-9196-824E62BF25FB}"/>
              </a:ext>
            </a:extLst>
          </p:cNvPr>
          <p:cNvSpPr>
            <a:spLocks noGrp="1"/>
          </p:cNvSpPr>
          <p:nvPr/>
        </p:nvSpPr>
        <p:spPr>
          <a:xfrm>
            <a:off x="13639800" y="7715250"/>
            <a:ext cx="3543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Executor ids</a:t>
            </a:r>
          </a:p>
        </p:txBody>
      </p:sp>
      <p:sp>
        <p:nvSpPr>
          <p:cNvPr id="37" name="m8-note">
            <a:extLst>
              <a:ext uri="{FF2B5EF4-FFF2-40B4-BE49-F238E27FC236}">
                <a16:creationId xmlns:a16="http://schemas.microsoft.com/office/drawing/2014/main" id="{841D28DD-C364-4341-8EEB-0A9DE6A12ADB}"/>
              </a:ext>
            </a:extLst>
          </p:cNvPr>
          <p:cNvSpPr>
            <a:spLocks noGrp="1"/>
          </p:cNvSpPr>
          <p:nvPr/>
        </p:nvSpPr>
        <p:spPr>
          <a:xfrm>
            <a:off x="13639800" y="87439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opencorvus / codex / claude-code</a:t>
            </a:r>
          </a:p>
        </p:txBody>
      </p:sp>
      <p:sp>
        <p:nvSpPr>
          <p:cNvPr id="38" name="source-3">
            <a:extLst>
              <a:ext uri="{FF2B5EF4-FFF2-40B4-BE49-F238E27FC236}">
                <a16:creationId xmlns:a16="http://schemas.microsoft.com/office/drawing/2014/main" id="{EB4288C5-F344-418E-A055-7DAED64F9894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repository grep and git log verification captured in docs/whitepaper/CODEX-REWORK-PLAN.md</a:t>
            </a:r>
          </a:p>
        </p:txBody>
      </p:sp>
      <p:sp>
        <p:nvSpPr>
          <p:cNvPr id="39" name="page-3">
            <a:extLst>
              <a:ext uri="{FF2B5EF4-FFF2-40B4-BE49-F238E27FC236}">
                <a16:creationId xmlns:a16="http://schemas.microsoft.com/office/drawing/2014/main" id="{C2CBD097-D2D4-4C02-BD27-4EE4E75FA3B5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265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nvas">
            <a:extLst>
              <a:ext uri="{FF2B5EF4-FFF2-40B4-BE49-F238E27FC236}">
                <a16:creationId xmlns:a16="http://schemas.microsoft.com/office/drawing/2014/main" id="{379DA9C2-00D7-4D94-B5FB-441644CD31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Positioning-rule">
            <a:extLst>
              <a:ext uri="{FF2B5EF4-FFF2-40B4-BE49-F238E27FC236}">
                <a16:creationId xmlns:a16="http://schemas.microsoft.com/office/drawing/2014/main" id="{68E94851-C256-4942-B073-52E3CC7ABA67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Positioning-label">
            <a:extLst>
              <a:ext uri="{FF2B5EF4-FFF2-40B4-BE49-F238E27FC236}">
                <a16:creationId xmlns:a16="http://schemas.microsoft.com/office/drawing/2014/main" id="{3E836366-96C0-44E9-9A81-C000DE29465F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Positioning</a:t>
            </a:r>
          </a:p>
        </p:txBody>
      </p:sp>
      <p:sp>
        <p:nvSpPr>
          <p:cNvPr id="4" name="slide-title-4">
            <a:extLst>
              <a:ext uri="{FF2B5EF4-FFF2-40B4-BE49-F238E27FC236}">
                <a16:creationId xmlns:a16="http://schemas.microsoft.com/office/drawing/2014/main" id="{6F680277-1FD7-415A-952F-041140E7AE0D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125158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同类定位：OpenCorvus 是编排层，不是另一个单点编码 Agent</a:t>
            </a:r>
          </a:p>
        </p:txBody>
      </p:sp>
      <p:sp>
        <p:nvSpPr>
          <p:cNvPr id="5" name="slide-subtitle-4">
            <a:extLst>
              <a:ext uri="{FF2B5EF4-FFF2-40B4-BE49-F238E27FC236}">
                <a16:creationId xmlns:a16="http://schemas.microsoft.com/office/drawing/2014/main" id="{DFB765EE-DF4E-4B5C-94B0-54659730AE69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9067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外部编码 Agent 负责生成和执行；OpenCorvus 负责任务事实、契约、审计和交付闭环。</a:t>
            </a:r>
          </a:p>
        </p:txBody>
      </p:sp>
      <p:graphicFrame>
        <p:nvGraphicFramePr>
          <p:cNvPr id="6" name="positioning-table"/>
          <p:cNvGraphicFramePr/>
          <p:nvPr/>
        </p:nvGraphicFramePr>
        <p:xfrm>
          <a:off x="876300" y="3329940"/>
          <a:ext cx="16535400" cy="5814060"/>
        </p:xfrm>
        <a:graphic>
          <a:graphicData uri="http://schemas.openxmlformats.org/drawingml/2006/table">
            <a:tbl>
              <a:tblPr bandRow="1"/>
              <a:tblGrid>
                <a:gridCol w="551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01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主要入口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OpenCorvus 对照视角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010">
                <a:tc>
                  <a:txBody>
                    <a:bodyPr/>
                    <a:lstStyle/>
                    <a:p>
                      <a:r>
                        <a:t>sst/opencode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终端原生编码 Agent 与 TUI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 fork 血缘，重心转向任务编排、Goal、审计与 Overlay。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010">
                <a:tc>
                  <a:txBody>
                    <a:bodyPr/>
                    <a:lstStyle/>
                    <a:p>
                      <a:r>
                        <a:t>Claude Code / Codex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终端、IDE 或本地 CLI 执行器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适合作为强执行器；产出进入任务事实链并接受后续验收。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010">
                <a:tc>
                  <a:txBody>
                    <a:bodyPr/>
                    <a:lstStyle/>
                    <a:p>
                      <a:r>
                        <a:rPr dirty="0"/>
                        <a:t>aider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本地仓库 pair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更偏人工协作式编辑；OpenCorvus 额外强调持久化和交付判决。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010">
                <a:tc>
                  <a:txBody>
                    <a:bodyPr/>
                    <a:lstStyle/>
                    <a:p>
                      <a:r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IDE 内 autonomous coding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适合 IDE 内逐步授权；OpenCorvus 控制面在 Overlay / HTTP / 通道层。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010">
                <a:tc>
                  <a:txBody>
                    <a:bodyPr/>
                    <a:lstStyle/>
                    <a:p>
                      <a:r>
                        <a:t>OpenClaw 类平台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跨应用个人自动化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覆盖面更宽；OpenCorvus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收窄到代码仓库交付任务</a:t>
                      </a:r>
                      <a:r>
                        <a:rPr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ource-4">
            <a:extLst>
              <a:ext uri="{FF2B5EF4-FFF2-40B4-BE49-F238E27FC236}">
                <a16:creationId xmlns:a16="http://schemas.microsoft.com/office/drawing/2014/main" id="{1A25E216-B11F-47A9-95B1-C3FF704F78CF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03; public project positioning references in HTML footer</a:t>
            </a:r>
          </a:p>
        </p:txBody>
      </p:sp>
      <p:sp>
        <p:nvSpPr>
          <p:cNvPr id="8" name="page-4">
            <a:extLst>
              <a:ext uri="{FF2B5EF4-FFF2-40B4-BE49-F238E27FC236}">
                <a16:creationId xmlns:a16="http://schemas.microsoft.com/office/drawing/2014/main" id="{98F6B9EB-283B-4D82-B13F-EA16EE503EEF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813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nvas">
            <a:extLst>
              <a:ext uri="{FF2B5EF4-FFF2-40B4-BE49-F238E27FC236}">
                <a16:creationId xmlns:a16="http://schemas.microsoft.com/office/drawing/2014/main" id="{4CAC1649-CB27-499A-A021-5FCF8E7A57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Orchestration-rule">
            <a:extLst>
              <a:ext uri="{FF2B5EF4-FFF2-40B4-BE49-F238E27FC236}">
                <a16:creationId xmlns:a16="http://schemas.microsoft.com/office/drawing/2014/main" id="{039BAF74-EBEB-4375-9D3F-C6B82A95BDA9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rchestration-label">
            <a:extLst>
              <a:ext uri="{FF2B5EF4-FFF2-40B4-BE49-F238E27FC236}">
                <a16:creationId xmlns:a16="http://schemas.microsoft.com/office/drawing/2014/main" id="{C0542E23-B51E-4C29-9882-0B03ACF22F6C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Orchestration</a:t>
            </a:r>
          </a:p>
        </p:txBody>
      </p:sp>
      <p:sp>
        <p:nvSpPr>
          <p:cNvPr id="4" name="slide-title-5">
            <a:extLst>
              <a:ext uri="{FF2B5EF4-FFF2-40B4-BE49-F238E27FC236}">
                <a16:creationId xmlns:a16="http://schemas.microsoft.com/office/drawing/2014/main" id="{89E3897E-0599-4995-B7A0-A0780C8FF7B9}"/>
              </a:ext>
            </a:extLst>
          </p:cNvPr>
          <p:cNvSpPr>
            <a:spLocks noGrp="1"/>
          </p:cNvSpPr>
          <p:nvPr/>
        </p:nvSpPr>
        <p:spPr>
          <a:xfrm>
            <a:off x="876299" y="1085850"/>
            <a:ext cx="11818829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 dirty="0">
                <a:solidFill>
                  <a:srgbClr val="171A17"/>
                </a:solidFill>
              </a:rPr>
              <a:t>编排框架：21 </a:t>
            </a:r>
            <a:r>
              <a:rPr sz="4050" b="1" dirty="0" err="1">
                <a:solidFill>
                  <a:srgbClr val="171A17"/>
                </a:solidFill>
              </a:rPr>
              <a:t>个工具围绕同一任务事实集合工作</a:t>
            </a:r>
            <a:endParaRPr sz="4050" b="1" dirty="0">
              <a:solidFill>
                <a:srgbClr val="171A17"/>
              </a:solidFill>
            </a:endParaRPr>
          </a:p>
        </p:txBody>
      </p:sp>
      <p:sp>
        <p:nvSpPr>
          <p:cNvPr id="5" name="slide-subtitle-5">
            <a:extLst>
              <a:ext uri="{FF2B5EF4-FFF2-40B4-BE49-F238E27FC236}">
                <a16:creationId xmlns:a16="http://schemas.microsoft.com/office/drawing/2014/main" id="{B9A5AB72-BD77-49F4-A65F-DF9D056C9491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8117388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 dirty="0" err="1">
                <a:solidFill>
                  <a:srgbClr val="59615B"/>
                </a:solidFill>
              </a:rPr>
              <a:t>对外</a:t>
            </a:r>
            <a:r>
              <a:rPr sz="1875" dirty="0">
                <a:solidFill>
                  <a:srgbClr val="59615B"/>
                </a:solidFill>
              </a:rPr>
              <a:t> </a:t>
            </a:r>
            <a:r>
              <a:rPr sz="1875" dirty="0" err="1">
                <a:solidFill>
                  <a:srgbClr val="59615B"/>
                </a:solidFill>
              </a:rPr>
              <a:t>Agent、SessionKind</a:t>
            </a:r>
            <a:r>
              <a:rPr sz="1875" dirty="0">
                <a:solidFill>
                  <a:srgbClr val="59615B"/>
                </a:solidFill>
              </a:rPr>
              <a:t> </a:t>
            </a:r>
            <a:r>
              <a:rPr sz="1875" dirty="0" err="1">
                <a:solidFill>
                  <a:srgbClr val="59615B"/>
                </a:solidFill>
              </a:rPr>
              <a:t>和工具入口是三个不同层次，不能混为一组枚举</a:t>
            </a:r>
            <a:r>
              <a:rPr sz="1875" dirty="0">
                <a:solidFill>
                  <a:srgbClr val="59615B"/>
                </a:solidFill>
              </a:rPr>
              <a:t>。</a:t>
            </a:r>
          </a:p>
        </p:txBody>
      </p:sp>
      <p:sp>
        <p:nvSpPr>
          <p:cNvPr id="9" name="orch-b1-mark">
            <a:extLst>
              <a:ext uri="{FF2B5EF4-FFF2-40B4-BE49-F238E27FC236}">
                <a16:creationId xmlns:a16="http://schemas.microsoft.com/office/drawing/2014/main" id="{F1547C8D-B1D3-4B68-92CB-59632E6CE9EB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95250" cy="95250"/>
          </a:xfrm>
          <a:prstGeom prst="rect">
            <a:avLst/>
          </a:prstGeom>
          <a:solidFill>
            <a:srgbClr val="1D5F78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orch-b1">
            <a:extLst>
              <a:ext uri="{FF2B5EF4-FFF2-40B4-BE49-F238E27FC236}">
                <a16:creationId xmlns:a16="http://schemas.microsoft.com/office/drawing/2014/main" id="{559E198B-F1C3-4E17-AA04-BE6BBD3C5852}"/>
              </a:ext>
            </a:extLst>
          </p:cNvPr>
          <p:cNvSpPr>
            <a:spLocks noGrp="1"/>
          </p:cNvSpPr>
          <p:nvPr/>
        </p:nvSpPr>
        <p:spPr>
          <a:xfrm>
            <a:off x="1123950" y="4076700"/>
            <a:ext cx="74485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九个对外 Agent 入口位于 intent-analysis、requirements、design-analyst、architect、build、integrity、delivery、prosecutor、orchestrator。</a:t>
            </a:r>
          </a:p>
        </p:txBody>
      </p:sp>
      <p:sp>
        <p:nvSpPr>
          <p:cNvPr id="11" name="orch-b2-mark">
            <a:extLst>
              <a:ext uri="{FF2B5EF4-FFF2-40B4-BE49-F238E27FC236}">
                <a16:creationId xmlns:a16="http://schemas.microsoft.com/office/drawing/2014/main" id="{3F9DC85D-F2CB-4B4F-80F7-395EB7106093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95250" cy="95250"/>
          </a:xfrm>
          <a:prstGeom prst="rect">
            <a:avLst/>
          </a:prstGeom>
          <a:solidFill>
            <a:srgbClr val="8A5A12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orch-b2">
            <a:extLst>
              <a:ext uri="{FF2B5EF4-FFF2-40B4-BE49-F238E27FC236}">
                <a16:creationId xmlns:a16="http://schemas.microsoft.com/office/drawing/2014/main" id="{FF8006F3-BC30-4F4E-90C1-8BB53DEF1E15}"/>
              </a:ext>
            </a:extLst>
          </p:cNvPr>
          <p:cNvSpPr>
            <a:spLocks noGrp="1"/>
          </p:cNvSpPr>
          <p:nvPr/>
        </p:nvSpPr>
        <p:spPr>
          <a:xfrm>
            <a:off x="1123950" y="5105400"/>
            <a:ext cx="7448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SessionKind 有 15 项，是运行时容器分类；prosecutor 有入口文件，但没有独立 SessionKind。</a:t>
            </a:r>
          </a:p>
        </p:txBody>
      </p:sp>
      <p:sp>
        <p:nvSpPr>
          <p:cNvPr id="13" name="orch-b3-mark">
            <a:extLst>
              <a:ext uri="{FF2B5EF4-FFF2-40B4-BE49-F238E27FC236}">
                <a16:creationId xmlns:a16="http://schemas.microsoft.com/office/drawing/2014/main" id="{C86DA258-C37F-452C-B770-6ADA5EAA6748}"/>
              </a:ext>
            </a:extLst>
          </p:cNvPr>
          <p:cNvSpPr>
            <a:spLocks noGrp="1"/>
          </p:cNvSpPr>
          <p:nvPr/>
        </p:nvSpPr>
        <p:spPr>
          <a:xfrm>
            <a:off x="876300" y="5867400"/>
            <a:ext cx="95250" cy="95250"/>
          </a:xfrm>
          <a:prstGeom prst="rect">
            <a:avLst/>
          </a:prstGeom>
          <a:solidFill>
            <a:srgbClr val="2F6F53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orch-b3">
            <a:extLst>
              <a:ext uri="{FF2B5EF4-FFF2-40B4-BE49-F238E27FC236}">
                <a16:creationId xmlns:a16="http://schemas.microsoft.com/office/drawing/2014/main" id="{A68CE8EF-9174-414D-8F41-AE0A7696950B}"/>
              </a:ext>
            </a:extLst>
          </p:cNvPr>
          <p:cNvSpPr>
            <a:spLocks noGrp="1"/>
          </p:cNvSpPr>
          <p:nvPr/>
        </p:nvSpPr>
        <p:spPr>
          <a:xfrm>
            <a:off x="1123950" y="5867400"/>
            <a:ext cx="7448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所有工具结果、构建证据、审计结果与用户消息继续进入同一任务上下文。</a:t>
            </a:r>
          </a:p>
        </p:txBody>
      </p:sp>
      <p:pic>
        <p:nvPicPr>
          <p:cNvPr id="15" name="orchestration-framework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00636" y="3091339"/>
            <a:ext cx="8511064" cy="5674043"/>
          </a:xfrm>
          <a:prstGeom prst="rect">
            <a:avLst/>
          </a:prstGeom>
        </p:spPr>
      </p:pic>
      <p:sp>
        <p:nvSpPr>
          <p:cNvPr id="16" name="source-5">
            <a:extLst>
              <a:ext uri="{FF2B5EF4-FFF2-40B4-BE49-F238E27FC236}">
                <a16:creationId xmlns:a16="http://schemas.microsoft.com/office/drawing/2014/main" id="{3D9117DB-2B2B-4A7F-9B27-C78B1AA6C6EC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04 and assets/orchestration-framework.png</a:t>
            </a:r>
          </a:p>
        </p:txBody>
      </p:sp>
      <p:sp>
        <p:nvSpPr>
          <p:cNvPr id="17" name="page-5">
            <a:extLst>
              <a:ext uri="{FF2B5EF4-FFF2-40B4-BE49-F238E27FC236}">
                <a16:creationId xmlns:a16="http://schemas.microsoft.com/office/drawing/2014/main" id="{1521920A-E16E-4067-A3BD-96DD10AB0C07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745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nvas">
            <a:extLst>
              <a:ext uri="{FF2B5EF4-FFF2-40B4-BE49-F238E27FC236}">
                <a16:creationId xmlns:a16="http://schemas.microsoft.com/office/drawing/2014/main" id="{7BF9C5B0-9680-446E-9994-300D1B8EB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Goal And Contract-rule">
            <a:extLst>
              <a:ext uri="{FF2B5EF4-FFF2-40B4-BE49-F238E27FC236}">
                <a16:creationId xmlns:a16="http://schemas.microsoft.com/office/drawing/2014/main" id="{5329904F-E4A9-475A-B9E0-608ABCEFE0AD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Goal And Contract-label">
            <a:extLst>
              <a:ext uri="{FF2B5EF4-FFF2-40B4-BE49-F238E27FC236}">
                <a16:creationId xmlns:a16="http://schemas.microsoft.com/office/drawing/2014/main" id="{249620B9-2DC5-430C-9A7B-6C133CD6A5EF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Goal And Contract</a:t>
            </a:r>
          </a:p>
        </p:txBody>
      </p:sp>
      <p:sp>
        <p:nvSpPr>
          <p:cNvPr id="4" name="slide-title-6">
            <a:extLst>
              <a:ext uri="{FF2B5EF4-FFF2-40B4-BE49-F238E27FC236}">
                <a16:creationId xmlns:a16="http://schemas.microsoft.com/office/drawing/2014/main" id="{5364EC1E-8482-4099-95A2-2590978DFD24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83058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Goal 与契约：验收不是单个打分字段</a:t>
            </a:r>
          </a:p>
        </p:txBody>
      </p:sp>
      <p:sp>
        <p:nvSpPr>
          <p:cNvPr id="5" name="slide-subtitle-6">
            <a:extLst>
              <a:ext uri="{FF2B5EF4-FFF2-40B4-BE49-F238E27FC236}">
                <a16:creationId xmlns:a16="http://schemas.microsoft.com/office/drawing/2014/main" id="{5C93372E-EF1B-4046-B23E-C27B6D2215F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4104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Architect、Acceptance Spec、Contract IR 和 Integrity 共同约束构建结果。</a:t>
            </a:r>
          </a:p>
        </p:txBody>
      </p:sp>
      <p:pic>
        <p:nvPicPr>
          <p:cNvPr id="6" name="goal-design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3551761"/>
            <a:ext cx="9542336" cy="5370417"/>
          </a:xfrm>
          <a:prstGeom prst="rect">
            <a:avLst/>
          </a:prstGeom>
        </p:spPr>
      </p:pic>
      <p:sp>
        <p:nvSpPr>
          <p:cNvPr id="7" name="goal-b1-mark">
            <a:extLst>
              <a:ext uri="{FF2B5EF4-FFF2-40B4-BE49-F238E27FC236}">
                <a16:creationId xmlns:a16="http://schemas.microsoft.com/office/drawing/2014/main" id="{243C3077-D12A-45E3-99D5-265C3E76847D}"/>
              </a:ext>
            </a:extLst>
          </p:cNvPr>
          <p:cNvSpPr>
            <a:spLocks noGrp="1"/>
          </p:cNvSpPr>
          <p:nvPr/>
        </p:nvSpPr>
        <p:spPr>
          <a:xfrm>
            <a:off x="10782300" y="4933950"/>
            <a:ext cx="95250" cy="95250"/>
          </a:xfrm>
          <a:prstGeom prst="rect">
            <a:avLst/>
          </a:prstGeom>
          <a:solidFill>
            <a:srgbClr val="1D5F7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goal-b1">
            <a:extLst>
              <a:ext uri="{FF2B5EF4-FFF2-40B4-BE49-F238E27FC236}">
                <a16:creationId xmlns:a16="http://schemas.microsoft.com/office/drawing/2014/main" id="{14A39D68-0CF6-4653-AF56-0FBCEA97BD5B}"/>
              </a:ext>
            </a:extLst>
          </p:cNvPr>
          <p:cNvSpPr>
            <a:spLocks noGrp="1"/>
          </p:cNvSpPr>
          <p:nvPr/>
        </p:nvSpPr>
        <p:spPr>
          <a:xfrm>
            <a:off x="11029950" y="4933950"/>
            <a:ext cx="6381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Architect 至少注册两个 Goal；当前约束是运行时常量 MIN_ARCHITECT_GOAL_COUNT = 2。</a:t>
            </a:r>
          </a:p>
        </p:txBody>
      </p:sp>
      <p:sp>
        <p:nvSpPr>
          <p:cNvPr id="9" name="goal-b2-mark">
            <a:extLst>
              <a:ext uri="{FF2B5EF4-FFF2-40B4-BE49-F238E27FC236}">
                <a16:creationId xmlns:a16="http://schemas.microsoft.com/office/drawing/2014/main" id="{B82D1E6C-394B-427A-8AD1-3FCC42A00D74}"/>
              </a:ext>
            </a:extLst>
          </p:cNvPr>
          <p:cNvSpPr>
            <a:spLocks noGrp="1"/>
          </p:cNvSpPr>
          <p:nvPr/>
        </p:nvSpPr>
        <p:spPr>
          <a:xfrm>
            <a:off x="10782300" y="5715000"/>
            <a:ext cx="95250" cy="95250"/>
          </a:xfrm>
          <a:prstGeom prst="rect">
            <a:avLst/>
          </a:prstGeom>
          <a:solidFill>
            <a:srgbClr val="2F6F53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goal-b2">
            <a:extLst>
              <a:ext uri="{FF2B5EF4-FFF2-40B4-BE49-F238E27FC236}">
                <a16:creationId xmlns:a16="http://schemas.microsoft.com/office/drawing/2014/main" id="{0EC6223B-F246-4841-8C89-00632B5E66E0}"/>
              </a:ext>
            </a:extLst>
          </p:cNvPr>
          <p:cNvSpPr>
            <a:spLocks noGrp="1"/>
          </p:cNvSpPr>
          <p:nvPr/>
        </p:nvSpPr>
        <p:spPr>
          <a:xfrm>
            <a:off x="11029950" y="5715000"/>
            <a:ext cx="6381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Acceptance Spec 字段是 scorers: ScorerSchema[]，schema 层要求至少一项。</a:t>
            </a:r>
          </a:p>
        </p:txBody>
      </p:sp>
      <p:sp>
        <p:nvSpPr>
          <p:cNvPr id="11" name="goal-b3-mark">
            <a:extLst>
              <a:ext uri="{FF2B5EF4-FFF2-40B4-BE49-F238E27FC236}">
                <a16:creationId xmlns:a16="http://schemas.microsoft.com/office/drawing/2014/main" id="{137C544D-364D-4AB4-BCEE-8E5CAAE1ADDC}"/>
              </a:ext>
            </a:extLst>
          </p:cNvPr>
          <p:cNvSpPr>
            <a:spLocks noGrp="1"/>
          </p:cNvSpPr>
          <p:nvPr/>
        </p:nvSpPr>
        <p:spPr>
          <a:xfrm>
            <a:off x="10782300" y="6496050"/>
            <a:ext cx="95250" cy="95250"/>
          </a:xfrm>
          <a:prstGeom prst="rect">
            <a:avLst/>
          </a:prstGeom>
          <a:solidFill>
            <a:srgbClr val="8A5A12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goal-b3">
            <a:extLst>
              <a:ext uri="{FF2B5EF4-FFF2-40B4-BE49-F238E27FC236}">
                <a16:creationId xmlns:a16="http://schemas.microsoft.com/office/drawing/2014/main" id="{9E02C9F6-3C2B-4293-9BC9-1FE0117AE386}"/>
              </a:ext>
            </a:extLst>
          </p:cNvPr>
          <p:cNvSpPr>
            <a:spLocks noGrp="1"/>
          </p:cNvSpPr>
          <p:nvPr/>
        </p:nvSpPr>
        <p:spPr>
          <a:xfrm>
            <a:off x="11029950" y="6496050"/>
            <a:ext cx="6381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Contract IR enum variant 是包含 value 和 meaning 的对象数组，不是字符串数组。</a:t>
            </a:r>
          </a:p>
        </p:txBody>
      </p:sp>
      <p:sp>
        <p:nvSpPr>
          <p:cNvPr id="13" name="goal-b4-mark">
            <a:extLst>
              <a:ext uri="{FF2B5EF4-FFF2-40B4-BE49-F238E27FC236}">
                <a16:creationId xmlns:a16="http://schemas.microsoft.com/office/drawing/2014/main" id="{94C9C50D-DEBC-454C-9A2F-12F8D8837AEB}"/>
              </a:ext>
            </a:extLst>
          </p:cNvPr>
          <p:cNvSpPr>
            <a:spLocks noGrp="1"/>
          </p:cNvSpPr>
          <p:nvPr/>
        </p:nvSpPr>
        <p:spPr>
          <a:xfrm>
            <a:off x="10782300" y="7258050"/>
            <a:ext cx="95250" cy="95250"/>
          </a:xfrm>
          <a:prstGeom prst="rect">
            <a:avLst/>
          </a:prstGeom>
          <a:solidFill>
            <a:srgbClr val="9F3434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goal-b4">
            <a:extLst>
              <a:ext uri="{FF2B5EF4-FFF2-40B4-BE49-F238E27FC236}">
                <a16:creationId xmlns:a16="http://schemas.microsoft.com/office/drawing/2014/main" id="{23F3AAB8-8F7E-416F-8B2D-5D81C58ACE4A}"/>
              </a:ext>
            </a:extLst>
          </p:cNvPr>
          <p:cNvSpPr>
            <a:spLocks noGrp="1"/>
          </p:cNvSpPr>
          <p:nvPr/>
        </p:nvSpPr>
        <p:spPr>
          <a:xfrm>
            <a:off x="11029950" y="7258050"/>
            <a:ext cx="6381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Integrity 独立复核需求覆盖、可行性、幻觉风险和方案质量。</a:t>
            </a:r>
          </a:p>
        </p:txBody>
      </p:sp>
      <p:sp>
        <p:nvSpPr>
          <p:cNvPr id="15" name="source-6">
            <a:extLst>
              <a:ext uri="{FF2B5EF4-FFF2-40B4-BE49-F238E27FC236}">
                <a16:creationId xmlns:a16="http://schemas.microsoft.com/office/drawing/2014/main" id="{AA9AD07B-D03B-452A-B2FD-D485D31832C0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05 and assets/opencorvus-goal-design.png</a:t>
            </a:r>
          </a:p>
        </p:txBody>
      </p:sp>
      <p:sp>
        <p:nvSpPr>
          <p:cNvPr id="16" name="page-6">
            <a:extLst>
              <a:ext uri="{FF2B5EF4-FFF2-40B4-BE49-F238E27FC236}">
                <a16:creationId xmlns:a16="http://schemas.microsoft.com/office/drawing/2014/main" id="{1B028519-2B66-4EB4-B1DC-DE7206DFD3E2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155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nvas">
            <a:extLst>
              <a:ext uri="{FF2B5EF4-FFF2-40B4-BE49-F238E27FC236}">
                <a16:creationId xmlns:a16="http://schemas.microsoft.com/office/drawing/2014/main" id="{F867711A-6974-4AF6-99EA-03574561EA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Persistence-rule">
            <a:extLst>
              <a:ext uri="{FF2B5EF4-FFF2-40B4-BE49-F238E27FC236}">
                <a16:creationId xmlns:a16="http://schemas.microsoft.com/office/drawing/2014/main" id="{C9BEFBDE-EACC-45EB-A9A8-CDE8A4631BA2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Persistence-label">
            <a:extLst>
              <a:ext uri="{FF2B5EF4-FFF2-40B4-BE49-F238E27FC236}">
                <a16:creationId xmlns:a16="http://schemas.microsoft.com/office/drawing/2014/main" id="{3374A6CA-D73B-457F-AD04-01930B440D1D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Persistence</a:t>
            </a:r>
          </a:p>
        </p:txBody>
      </p:sp>
      <p:sp>
        <p:nvSpPr>
          <p:cNvPr id="4" name="slide-title-7">
            <a:extLst>
              <a:ext uri="{FF2B5EF4-FFF2-40B4-BE49-F238E27FC236}">
                <a16:creationId xmlns:a16="http://schemas.microsoft.com/office/drawing/2014/main" id="{9A616EFC-6BE0-4E2F-81B0-D0731FDF0C38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108013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数据库：任务事实被拆成结构、证据和事件三层</a:t>
            </a:r>
          </a:p>
        </p:txBody>
      </p:sp>
      <p:sp>
        <p:nvSpPr>
          <p:cNvPr id="5" name="slide-subtitle-7">
            <a:extLst>
              <a:ext uri="{FF2B5EF4-FFF2-40B4-BE49-F238E27FC236}">
                <a16:creationId xmlns:a16="http://schemas.microsoft.com/office/drawing/2014/main" id="{5BED7D93-2656-4337-9B20-A9DD571A5D56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SQLite 是任务复盘、Overlay 展示、HTTP API 和 Orchestrator 决策的共同事实源。</a:t>
            </a:r>
          </a:p>
        </p:txBody>
      </p:sp>
      <p:sp>
        <p:nvSpPr>
          <p:cNvPr id="6" name="storage-relationship">
            <a:extLst>
              <a:ext uri="{FF2B5EF4-FFF2-40B4-BE49-F238E27FC236}">
                <a16:creationId xmlns:a16="http://schemas.microsoft.com/office/drawing/2014/main" id="{4E168D86-0AE2-4A9A-A776-7C9ABDE4D606}"/>
              </a:ext>
            </a:extLst>
          </p:cNvPr>
          <p:cNvSpPr>
            <a:spLocks noGrp="1"/>
          </p:cNvSpPr>
          <p:nvPr/>
        </p:nvSpPr>
        <p:spPr>
          <a:xfrm>
            <a:off x="876300" y="2426970"/>
            <a:ext cx="5359400" cy="671703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storage-rel-title">
            <a:extLst>
              <a:ext uri="{FF2B5EF4-FFF2-40B4-BE49-F238E27FC236}">
                <a16:creationId xmlns:a16="http://schemas.microsoft.com/office/drawing/2014/main" id="{5E9ABEC8-1E5F-4414-93E2-88743E0F7E8B}"/>
              </a:ext>
            </a:extLst>
          </p:cNvPr>
          <p:cNvSpPr>
            <a:spLocks noGrp="1"/>
          </p:cNvSpPr>
          <p:nvPr/>
        </p:nvSpPr>
        <p:spPr>
          <a:xfrm>
            <a:off x="1162050" y="2705100"/>
            <a:ext cx="47815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D5F78"/>
                </a:solidFill>
              </a:defRPr>
            </a:pPr>
            <a:r>
              <a:rPr sz="2550" b="1">
                <a:solidFill>
                  <a:srgbClr val="1D5F78"/>
                </a:solidFill>
              </a:rPr>
              <a:t>关系层</a:t>
            </a:r>
          </a:p>
        </p:txBody>
      </p:sp>
      <p:sp>
        <p:nvSpPr>
          <p:cNvPr id="8" name="storage-rel-copy">
            <a:extLst>
              <a:ext uri="{FF2B5EF4-FFF2-40B4-BE49-F238E27FC236}">
                <a16:creationId xmlns:a16="http://schemas.microsoft.com/office/drawing/2014/main" id="{01F37AB4-87FD-43F4-B979-4FA93425E3E4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4781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 err="1">
                <a:solidFill>
                  <a:srgbClr val="171A17"/>
                </a:solidFill>
              </a:rPr>
              <a:t>engine_task、engine_goal、engine_requirement、engine_plan_version</a:t>
            </a:r>
            <a:r>
              <a:rPr sz="1800" dirty="0">
                <a:solidFill>
                  <a:srgbClr val="171A17"/>
                </a:solidFill>
              </a:rPr>
              <a:t> </a:t>
            </a:r>
            <a:r>
              <a:rPr sz="1800" dirty="0" err="1">
                <a:solidFill>
                  <a:srgbClr val="171A17"/>
                </a:solidFill>
              </a:rPr>
              <a:t>保存任务结构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sp>
        <p:nvSpPr>
          <p:cNvPr id="9" name="storage-evidence">
            <a:extLst>
              <a:ext uri="{FF2B5EF4-FFF2-40B4-BE49-F238E27FC236}">
                <a16:creationId xmlns:a16="http://schemas.microsoft.com/office/drawing/2014/main" id="{EED24073-C6A2-4F18-97D9-0C2BB4A6808F}"/>
              </a:ext>
            </a:extLst>
          </p:cNvPr>
          <p:cNvSpPr>
            <a:spLocks noGrp="1"/>
          </p:cNvSpPr>
          <p:nvPr/>
        </p:nvSpPr>
        <p:spPr>
          <a:xfrm>
            <a:off x="6464300" y="2426970"/>
            <a:ext cx="5359400" cy="671703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storage-ev-title">
            <a:extLst>
              <a:ext uri="{FF2B5EF4-FFF2-40B4-BE49-F238E27FC236}">
                <a16:creationId xmlns:a16="http://schemas.microsoft.com/office/drawing/2014/main" id="{478DC5D2-A290-4A04-ACB6-E2035E06E57D}"/>
              </a:ext>
            </a:extLst>
          </p:cNvPr>
          <p:cNvSpPr>
            <a:spLocks noGrp="1"/>
          </p:cNvSpPr>
          <p:nvPr/>
        </p:nvSpPr>
        <p:spPr>
          <a:xfrm>
            <a:off x="6743700" y="2705100"/>
            <a:ext cx="47815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F6F53"/>
                </a:solidFill>
              </a:defRPr>
            </a:pPr>
            <a:r>
              <a:rPr sz="2550" b="1">
                <a:solidFill>
                  <a:srgbClr val="2F6F53"/>
                </a:solidFill>
              </a:rPr>
              <a:t>证据层</a:t>
            </a:r>
          </a:p>
        </p:txBody>
      </p:sp>
      <p:sp>
        <p:nvSpPr>
          <p:cNvPr id="11" name="storage-ev-copy">
            <a:extLst>
              <a:ext uri="{FF2B5EF4-FFF2-40B4-BE49-F238E27FC236}">
                <a16:creationId xmlns:a16="http://schemas.microsoft.com/office/drawing/2014/main" id="{1FDAABB0-CAA2-4778-BF0E-9F2632401276}"/>
              </a:ext>
            </a:extLst>
          </p:cNvPr>
          <p:cNvSpPr>
            <a:spLocks noGrp="1"/>
          </p:cNvSpPr>
          <p:nvPr/>
        </p:nvSpPr>
        <p:spPr>
          <a:xfrm>
            <a:off x="6743700" y="3295650"/>
            <a:ext cx="4781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 err="1">
                <a:solidFill>
                  <a:srgbClr val="171A17"/>
                </a:solidFill>
              </a:rPr>
              <a:t>engine_artifact、metric、counterexample、iteration</a:t>
            </a:r>
            <a:r>
              <a:rPr sz="1800" dirty="0">
                <a:solidFill>
                  <a:srgbClr val="171A17"/>
                </a:solidFill>
              </a:rPr>
              <a:t> </a:t>
            </a:r>
            <a:r>
              <a:rPr sz="1800" dirty="0" err="1">
                <a:solidFill>
                  <a:srgbClr val="171A17"/>
                </a:solidFill>
              </a:rPr>
              <a:t>记录构建、验收和审计材料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sp>
        <p:nvSpPr>
          <p:cNvPr id="12" name="storage-event">
            <a:extLst>
              <a:ext uri="{FF2B5EF4-FFF2-40B4-BE49-F238E27FC236}">
                <a16:creationId xmlns:a16="http://schemas.microsoft.com/office/drawing/2014/main" id="{0CA79954-57C0-438C-A661-DE6107EA0F02}"/>
              </a:ext>
            </a:extLst>
          </p:cNvPr>
          <p:cNvSpPr>
            <a:spLocks noGrp="1"/>
          </p:cNvSpPr>
          <p:nvPr/>
        </p:nvSpPr>
        <p:spPr>
          <a:xfrm>
            <a:off x="12052300" y="2426970"/>
            <a:ext cx="5359400" cy="671703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storage-event-title">
            <a:extLst>
              <a:ext uri="{FF2B5EF4-FFF2-40B4-BE49-F238E27FC236}">
                <a16:creationId xmlns:a16="http://schemas.microsoft.com/office/drawing/2014/main" id="{8CDF35B1-4612-4FE4-A0F1-D2FC39928F05}"/>
              </a:ext>
            </a:extLst>
          </p:cNvPr>
          <p:cNvSpPr>
            <a:spLocks noGrp="1"/>
          </p:cNvSpPr>
          <p:nvPr/>
        </p:nvSpPr>
        <p:spPr>
          <a:xfrm>
            <a:off x="12344400" y="2705100"/>
            <a:ext cx="47815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8A5A12"/>
                </a:solidFill>
              </a:defRPr>
            </a:pPr>
            <a:r>
              <a:rPr sz="2550" b="1">
                <a:solidFill>
                  <a:srgbClr val="8A5A12"/>
                </a:solidFill>
              </a:rPr>
              <a:t>事件层</a:t>
            </a:r>
          </a:p>
        </p:txBody>
      </p:sp>
      <p:sp>
        <p:nvSpPr>
          <p:cNvPr id="14" name="storage-event-copy">
            <a:extLst>
              <a:ext uri="{FF2B5EF4-FFF2-40B4-BE49-F238E27FC236}">
                <a16:creationId xmlns:a16="http://schemas.microsoft.com/office/drawing/2014/main" id="{D6EEC3DE-DB80-45F6-8577-46C3A85F6281}"/>
              </a:ext>
            </a:extLst>
          </p:cNvPr>
          <p:cNvSpPr>
            <a:spLocks noGrp="1"/>
          </p:cNvSpPr>
          <p:nvPr/>
        </p:nvSpPr>
        <p:spPr>
          <a:xfrm>
            <a:off x="12344400" y="3295650"/>
            <a:ext cx="47815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protocol_event 与 protocol_inbox 记录可重放的任务通信事实。memory_embedding 是独立表，以 chunk_id 为主键。</a:t>
            </a:r>
          </a:p>
        </p:txBody>
      </p:sp>
      <p:sp>
        <p:nvSpPr>
          <p:cNvPr id="15" name="source-7">
            <a:extLst>
              <a:ext uri="{FF2B5EF4-FFF2-40B4-BE49-F238E27FC236}">
                <a16:creationId xmlns:a16="http://schemas.microsoft.com/office/drawing/2014/main" id="{8819AD78-F583-4A3C-AEC0-D46CA779E722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06; storage/ddl.ts contains 44 CREATE TABLE / CREATE VIRTUAL TABLE statements</a:t>
            </a:r>
          </a:p>
        </p:txBody>
      </p:sp>
      <p:sp>
        <p:nvSpPr>
          <p:cNvPr id="16" name="page-7">
            <a:extLst>
              <a:ext uri="{FF2B5EF4-FFF2-40B4-BE49-F238E27FC236}">
                <a16:creationId xmlns:a16="http://schemas.microsoft.com/office/drawing/2014/main" id="{DCB73D77-CF6B-400E-9923-49DB2025C063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338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nvas">
            <a:extLst>
              <a:ext uri="{FF2B5EF4-FFF2-40B4-BE49-F238E27FC236}">
                <a16:creationId xmlns:a16="http://schemas.microsoft.com/office/drawing/2014/main" id="{58C75C88-44C5-4610-8815-5A5EDA4080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UI And Channels-rule">
            <a:extLst>
              <a:ext uri="{FF2B5EF4-FFF2-40B4-BE49-F238E27FC236}">
                <a16:creationId xmlns:a16="http://schemas.microsoft.com/office/drawing/2014/main" id="{456AB035-0333-4291-BF03-83A85DA6A96C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UI And Channels-label">
            <a:extLst>
              <a:ext uri="{FF2B5EF4-FFF2-40B4-BE49-F238E27FC236}">
                <a16:creationId xmlns:a16="http://schemas.microsoft.com/office/drawing/2014/main" id="{2E79A54A-CBD4-4863-ADAC-924866DA8CE1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UI And Channels</a:t>
            </a:r>
          </a:p>
        </p:txBody>
      </p:sp>
      <p:sp>
        <p:nvSpPr>
          <p:cNvPr id="4" name="slide-title-8">
            <a:extLst>
              <a:ext uri="{FF2B5EF4-FFF2-40B4-BE49-F238E27FC236}">
                <a16:creationId xmlns:a16="http://schemas.microsoft.com/office/drawing/2014/main" id="{17F501AD-36CE-46CE-A003-5E13DCE62410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110109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 dirty="0">
                <a:solidFill>
                  <a:srgbClr val="171A17"/>
                </a:solidFill>
              </a:rPr>
              <a:t>Overlay </a:t>
            </a:r>
            <a:r>
              <a:rPr lang="en-GB" sz="4050" b="1" dirty="0">
                <a:solidFill>
                  <a:srgbClr val="171A17"/>
                </a:solidFill>
              </a:rPr>
              <a:t>+ </a:t>
            </a:r>
            <a:r>
              <a:rPr lang="en-US" altLang="zh-CN" sz="4050" b="1" dirty="0">
                <a:solidFill>
                  <a:srgbClr val="171A17"/>
                </a:solidFill>
              </a:rPr>
              <a:t>Gateway + Channel</a:t>
            </a:r>
            <a:endParaRPr sz="4050" b="1" dirty="0">
              <a:solidFill>
                <a:srgbClr val="171A17"/>
              </a:solidFill>
            </a:endParaRPr>
          </a:p>
        </p:txBody>
      </p:sp>
      <p:sp>
        <p:nvSpPr>
          <p:cNvPr id="5" name="slide-subtitle-8">
            <a:extLst>
              <a:ext uri="{FF2B5EF4-FFF2-40B4-BE49-F238E27FC236}">
                <a16:creationId xmlns:a16="http://schemas.microsoft.com/office/drawing/2014/main" id="{F954EEDF-E823-4290-9401-3061533C1D05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6438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每个入口不复制任务逻辑；它们读取和追加同一任务事实源。</a:t>
            </a:r>
          </a:p>
        </p:txBody>
      </p:sp>
      <p:sp>
        <p:nvSpPr>
          <p:cNvPr id="6" name="overlay-files-panel">
            <a:extLst>
              <a:ext uri="{FF2B5EF4-FFF2-40B4-BE49-F238E27FC236}">
                <a16:creationId xmlns:a16="http://schemas.microsoft.com/office/drawing/2014/main" id="{A9063AFD-6A0B-464D-8366-E71AC427735E}"/>
              </a:ext>
            </a:extLst>
          </p:cNvPr>
          <p:cNvSpPr>
            <a:spLocks noGrp="1"/>
          </p:cNvSpPr>
          <p:nvPr/>
        </p:nvSpPr>
        <p:spPr>
          <a:xfrm>
            <a:off x="876300" y="3044190"/>
            <a:ext cx="8124825" cy="296418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overlay-files-value">
            <a:extLst>
              <a:ext uri="{FF2B5EF4-FFF2-40B4-BE49-F238E27FC236}">
                <a16:creationId xmlns:a16="http://schemas.microsoft.com/office/drawing/2014/main" id="{503F2563-9EA4-4A1F-BB4F-300058D90369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76771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1D5F78"/>
                </a:solidFill>
              </a:defRPr>
            </a:pPr>
            <a:r>
              <a:rPr sz="4650" b="1">
                <a:solidFill>
                  <a:srgbClr val="1D5F78"/>
                </a:solidFill>
              </a:rPr>
              <a:t>76</a:t>
            </a:r>
          </a:p>
        </p:txBody>
      </p:sp>
      <p:sp>
        <p:nvSpPr>
          <p:cNvPr id="8" name="overlay-files-label">
            <a:extLst>
              <a:ext uri="{FF2B5EF4-FFF2-40B4-BE49-F238E27FC236}">
                <a16:creationId xmlns:a16="http://schemas.microsoft.com/office/drawing/2014/main" id="{754367AB-EFA0-4152-AC85-14C4476A3557}"/>
              </a:ext>
            </a:extLst>
          </p:cNvPr>
          <p:cNvSpPr>
            <a:spLocks noGrp="1"/>
          </p:cNvSpPr>
          <p:nvPr/>
        </p:nvSpPr>
        <p:spPr>
          <a:xfrm>
            <a:off x="1104900" y="4667250"/>
            <a:ext cx="7677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Overlay .tsx components</a:t>
            </a:r>
          </a:p>
        </p:txBody>
      </p:sp>
      <p:sp>
        <p:nvSpPr>
          <p:cNvPr id="9" name="overlay-files-note">
            <a:extLst>
              <a:ext uri="{FF2B5EF4-FFF2-40B4-BE49-F238E27FC236}">
                <a16:creationId xmlns:a16="http://schemas.microsoft.com/office/drawing/2014/main" id="{B1EB319A-6106-4216-AE8F-CFE3D3A46521}"/>
              </a:ext>
            </a:extLst>
          </p:cNvPr>
          <p:cNvSpPr>
            <a:spLocks noGrp="1"/>
          </p:cNvSpPr>
          <p:nvPr/>
        </p:nvSpPr>
        <p:spPr>
          <a:xfrm>
            <a:off x="1104900" y="5619750"/>
            <a:ext cx="7677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.ts + .tsx 合计 177；展示任务、会话、Goal、构建证据和控制消息。</a:t>
            </a:r>
          </a:p>
        </p:txBody>
      </p:sp>
      <p:sp>
        <p:nvSpPr>
          <p:cNvPr id="10" name="channel-files-panel">
            <a:extLst>
              <a:ext uri="{FF2B5EF4-FFF2-40B4-BE49-F238E27FC236}">
                <a16:creationId xmlns:a16="http://schemas.microsoft.com/office/drawing/2014/main" id="{FAB6CA0E-834E-4F6F-BC7C-5AA34E152A9D}"/>
              </a:ext>
            </a:extLst>
          </p:cNvPr>
          <p:cNvSpPr>
            <a:spLocks noGrp="1"/>
          </p:cNvSpPr>
          <p:nvPr/>
        </p:nvSpPr>
        <p:spPr>
          <a:xfrm>
            <a:off x="876300" y="6179820"/>
            <a:ext cx="8124825" cy="296418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channel-files-value">
            <a:extLst>
              <a:ext uri="{FF2B5EF4-FFF2-40B4-BE49-F238E27FC236}">
                <a16:creationId xmlns:a16="http://schemas.microsoft.com/office/drawing/2014/main" id="{BBCD6310-AF24-42FB-9743-6044AA266897}"/>
              </a:ext>
            </a:extLst>
          </p:cNvPr>
          <p:cNvSpPr>
            <a:spLocks noGrp="1"/>
          </p:cNvSpPr>
          <p:nvPr/>
        </p:nvSpPr>
        <p:spPr>
          <a:xfrm>
            <a:off x="1104900" y="6381750"/>
            <a:ext cx="76771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2F6F53"/>
                </a:solidFill>
              </a:defRPr>
            </a:pPr>
            <a:r>
              <a:rPr sz="4650" b="1">
                <a:solidFill>
                  <a:srgbClr val="2F6F53"/>
                </a:solidFill>
              </a:rPr>
              <a:t>15</a:t>
            </a:r>
          </a:p>
        </p:txBody>
      </p:sp>
      <p:sp>
        <p:nvSpPr>
          <p:cNvPr id="12" name="channel-files-label">
            <a:extLst>
              <a:ext uri="{FF2B5EF4-FFF2-40B4-BE49-F238E27FC236}">
                <a16:creationId xmlns:a16="http://schemas.microsoft.com/office/drawing/2014/main" id="{C3D147F7-2467-470C-A509-1A882856F9FD}"/>
              </a:ext>
            </a:extLst>
          </p:cNvPr>
          <p:cNvSpPr>
            <a:spLocks noGrp="1"/>
          </p:cNvSpPr>
          <p:nvPr/>
        </p:nvSpPr>
        <p:spPr>
          <a:xfrm>
            <a:off x="1104900" y="7715250"/>
            <a:ext cx="7677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Channel adapters</a:t>
            </a:r>
          </a:p>
        </p:txBody>
      </p:sp>
      <p:sp>
        <p:nvSpPr>
          <p:cNvPr id="13" name="channel-files-note">
            <a:extLst>
              <a:ext uri="{FF2B5EF4-FFF2-40B4-BE49-F238E27FC236}">
                <a16:creationId xmlns:a16="http://schemas.microsoft.com/office/drawing/2014/main" id="{EC87BDFF-143A-4BE3-B425-04F241E3678C}"/>
              </a:ext>
            </a:extLst>
          </p:cNvPr>
          <p:cNvSpPr>
            <a:spLocks noGrp="1"/>
          </p:cNvSpPr>
          <p:nvPr/>
        </p:nvSpPr>
        <p:spPr>
          <a:xfrm>
            <a:off x="1104900" y="8572500"/>
            <a:ext cx="76771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dingtalk、discord、feishu、googlechat、http、line、matrix、mattermost、msteams、qq、signal、slack、telegram、wecom、whatsapp。</a:t>
            </a:r>
          </a:p>
        </p:txBody>
      </p:sp>
      <p:sp>
        <p:nvSpPr>
          <p:cNvPr id="14" name="front-b1-mark">
            <a:extLst>
              <a:ext uri="{FF2B5EF4-FFF2-40B4-BE49-F238E27FC236}">
                <a16:creationId xmlns:a16="http://schemas.microsoft.com/office/drawing/2014/main" id="{80A7E163-1A6C-4824-BCA5-E647355F0BFE}"/>
              </a:ext>
            </a:extLst>
          </p:cNvPr>
          <p:cNvSpPr>
            <a:spLocks noGrp="1"/>
          </p:cNvSpPr>
          <p:nvPr/>
        </p:nvSpPr>
        <p:spPr>
          <a:xfrm>
            <a:off x="9296400" y="5238750"/>
            <a:ext cx="95250" cy="95250"/>
          </a:xfrm>
          <a:prstGeom prst="rect">
            <a:avLst/>
          </a:prstGeom>
          <a:solidFill>
            <a:srgbClr val="1D5F78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front-b1">
            <a:extLst>
              <a:ext uri="{FF2B5EF4-FFF2-40B4-BE49-F238E27FC236}">
                <a16:creationId xmlns:a16="http://schemas.microsoft.com/office/drawing/2014/main" id="{B5F2D43F-C627-47DA-A9BD-3264B331EEF7}"/>
              </a:ext>
            </a:extLst>
          </p:cNvPr>
          <p:cNvSpPr>
            <a:spLocks noGrp="1"/>
          </p:cNvSpPr>
          <p:nvPr/>
        </p:nvSpPr>
        <p:spPr>
          <a:xfrm>
            <a:off x="9544050" y="5238750"/>
            <a:ext cx="7886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Overlay UI 读取本地 server API 与 SSE 流，负责浏览任务、查看证据和发控制消息。</a:t>
            </a:r>
          </a:p>
        </p:txBody>
      </p:sp>
      <p:sp>
        <p:nvSpPr>
          <p:cNvPr id="16" name="front-b2-mark">
            <a:extLst>
              <a:ext uri="{FF2B5EF4-FFF2-40B4-BE49-F238E27FC236}">
                <a16:creationId xmlns:a16="http://schemas.microsoft.com/office/drawing/2014/main" id="{90AB2761-462D-4515-A2D4-AAF8509A2DE3}"/>
              </a:ext>
            </a:extLst>
          </p:cNvPr>
          <p:cNvSpPr>
            <a:spLocks noGrp="1"/>
          </p:cNvSpPr>
          <p:nvPr/>
        </p:nvSpPr>
        <p:spPr>
          <a:xfrm>
            <a:off x="9296400" y="5962650"/>
            <a:ext cx="95250" cy="95250"/>
          </a:xfrm>
          <a:prstGeom prst="rect">
            <a:avLst/>
          </a:prstGeom>
          <a:solidFill>
            <a:srgbClr val="8A5A12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front-b2">
            <a:extLst>
              <a:ext uri="{FF2B5EF4-FFF2-40B4-BE49-F238E27FC236}">
                <a16:creationId xmlns:a16="http://schemas.microsoft.com/office/drawing/2014/main" id="{48B69527-0D0F-4373-B33A-770C5BE1124C}"/>
              </a:ext>
            </a:extLst>
          </p:cNvPr>
          <p:cNvSpPr>
            <a:spLocks noGrp="1"/>
          </p:cNvSpPr>
          <p:nvPr/>
        </p:nvSpPr>
        <p:spPr>
          <a:xfrm>
            <a:off x="9544050" y="5962650"/>
            <a:ext cx="7886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HTTP API 提供创建任务、读取 board、追加用户消息、retry、replan、cancel 等入口。</a:t>
            </a:r>
          </a:p>
        </p:txBody>
      </p:sp>
      <p:sp>
        <p:nvSpPr>
          <p:cNvPr id="18" name="front-b3-mark">
            <a:extLst>
              <a:ext uri="{FF2B5EF4-FFF2-40B4-BE49-F238E27FC236}">
                <a16:creationId xmlns:a16="http://schemas.microsoft.com/office/drawing/2014/main" id="{C696E259-1C9F-4C16-8550-019F55BAAA37}"/>
              </a:ext>
            </a:extLst>
          </p:cNvPr>
          <p:cNvSpPr>
            <a:spLocks noGrp="1"/>
          </p:cNvSpPr>
          <p:nvPr/>
        </p:nvSpPr>
        <p:spPr>
          <a:xfrm>
            <a:off x="9296400" y="6686550"/>
            <a:ext cx="95250" cy="95250"/>
          </a:xfrm>
          <a:prstGeom prst="rect">
            <a:avLst/>
          </a:prstGeom>
          <a:solidFill>
            <a:srgbClr val="2F6F53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front-b3">
            <a:extLst>
              <a:ext uri="{FF2B5EF4-FFF2-40B4-BE49-F238E27FC236}">
                <a16:creationId xmlns:a16="http://schemas.microsoft.com/office/drawing/2014/main" id="{855FDC12-A80E-498E-B51F-A8E9B6D1298F}"/>
              </a:ext>
            </a:extLst>
          </p:cNvPr>
          <p:cNvSpPr>
            <a:spLocks noGrp="1"/>
          </p:cNvSpPr>
          <p:nvPr/>
        </p:nvSpPr>
        <p:spPr>
          <a:xfrm>
            <a:off x="9544050" y="6686550"/>
            <a:ext cx="7886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Channel runtime 只做 ingress / egress，不持有独立任务事实。</a:t>
            </a:r>
          </a:p>
        </p:txBody>
      </p:sp>
      <p:sp>
        <p:nvSpPr>
          <p:cNvPr id="20" name="source-8">
            <a:extLst>
              <a:ext uri="{FF2B5EF4-FFF2-40B4-BE49-F238E27FC236}">
                <a16:creationId xmlns:a16="http://schemas.microsoft.com/office/drawing/2014/main" id="{498034A3-968F-4D32-9AA7-F103C30176B5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07</a:t>
            </a:r>
          </a:p>
        </p:txBody>
      </p:sp>
      <p:sp>
        <p:nvSpPr>
          <p:cNvPr id="21" name="page-8">
            <a:extLst>
              <a:ext uri="{FF2B5EF4-FFF2-40B4-BE49-F238E27FC236}">
                <a16:creationId xmlns:a16="http://schemas.microsoft.com/office/drawing/2014/main" id="{9E059C8B-09EF-4874-9975-23905A7FDC15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596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nvas">
            <a:extLst>
              <a:ext uri="{FF2B5EF4-FFF2-40B4-BE49-F238E27FC236}">
                <a16:creationId xmlns:a16="http://schemas.microsoft.com/office/drawing/2014/main" id="{F8E0BDC3-3F3C-45E7-BA9D-FDCA76A86C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Runtime-rule">
            <a:extLst>
              <a:ext uri="{FF2B5EF4-FFF2-40B4-BE49-F238E27FC236}">
                <a16:creationId xmlns:a16="http://schemas.microsoft.com/office/drawing/2014/main" id="{71174268-8C7A-429B-BDA6-19FF75F9AF33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untime-label">
            <a:extLst>
              <a:ext uri="{FF2B5EF4-FFF2-40B4-BE49-F238E27FC236}">
                <a16:creationId xmlns:a16="http://schemas.microsoft.com/office/drawing/2014/main" id="{3290D83E-01B2-4452-8D8D-8DFF01908262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Runtime</a:t>
            </a:r>
          </a:p>
        </p:txBody>
      </p:sp>
      <p:sp>
        <p:nvSpPr>
          <p:cNvPr id="4" name="slide-title-9">
            <a:extLst>
              <a:ext uri="{FF2B5EF4-FFF2-40B4-BE49-F238E27FC236}">
                <a16:creationId xmlns:a16="http://schemas.microsoft.com/office/drawing/2014/main" id="{B92732F0-ADDF-428A-BFA4-C19B151B0A5A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118300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执行器与部署：编排层把不同执行器纳入同一验收链</a:t>
            </a:r>
          </a:p>
        </p:txBody>
      </p:sp>
      <p:sp>
        <p:nvSpPr>
          <p:cNvPr id="5" name="slide-subtitle-9">
            <a:extLst>
              <a:ext uri="{FF2B5EF4-FFF2-40B4-BE49-F238E27FC236}">
                <a16:creationId xmlns:a16="http://schemas.microsoft.com/office/drawing/2014/main" id="{427EE9B4-3576-4960-8135-F881F02D41FD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9791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当前 executor id 为 opencorvus、codex、claude-code；内置实现文件是 executor/opencorvus.ts。</a:t>
            </a:r>
          </a:p>
        </p:txBody>
      </p:sp>
      <p:sp>
        <p:nvSpPr>
          <p:cNvPr id="6" name="rt-executor">
            <a:extLst>
              <a:ext uri="{FF2B5EF4-FFF2-40B4-BE49-F238E27FC236}">
                <a16:creationId xmlns:a16="http://schemas.microsoft.com/office/drawing/2014/main" id="{611DB88F-BE5C-4163-8375-BE368CA3C639}"/>
              </a:ext>
            </a:extLst>
          </p:cNvPr>
          <p:cNvSpPr>
            <a:spLocks noGrp="1"/>
          </p:cNvSpPr>
          <p:nvPr/>
        </p:nvSpPr>
        <p:spPr>
          <a:xfrm>
            <a:off x="876300" y="2712720"/>
            <a:ext cx="8162925" cy="311086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rt-executor-title">
            <a:extLst>
              <a:ext uri="{FF2B5EF4-FFF2-40B4-BE49-F238E27FC236}">
                <a16:creationId xmlns:a16="http://schemas.microsoft.com/office/drawing/2014/main" id="{43644C00-6F1B-428E-86AD-C7F23D4172C8}"/>
              </a:ext>
            </a:extLst>
          </p:cNvPr>
          <p:cNvSpPr>
            <a:spLocks noGrp="1"/>
          </p:cNvSpPr>
          <p:nvPr/>
        </p:nvSpPr>
        <p:spPr>
          <a:xfrm>
            <a:off x="1162050" y="2971800"/>
            <a:ext cx="76009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D5F78"/>
                </a:solidFill>
              </a:defRPr>
            </a:pPr>
            <a:r>
              <a:rPr sz="2400" b="1">
                <a:solidFill>
                  <a:srgbClr val="1D5F78"/>
                </a:solidFill>
              </a:rPr>
              <a:t>Executor</a:t>
            </a:r>
          </a:p>
        </p:txBody>
      </p:sp>
      <p:sp>
        <p:nvSpPr>
          <p:cNvPr id="8" name="rt-executor-code">
            <a:extLst>
              <a:ext uri="{FF2B5EF4-FFF2-40B4-BE49-F238E27FC236}">
                <a16:creationId xmlns:a16="http://schemas.microsoft.com/office/drawing/2014/main" id="{7619FF23-32D9-428D-BD86-9F94FA7B8CB7}"/>
              </a:ext>
            </a:extLst>
          </p:cNvPr>
          <p:cNvSpPr>
            <a:spLocks noGrp="1"/>
          </p:cNvSpPr>
          <p:nvPr/>
        </p:nvSpPr>
        <p:spPr>
          <a:xfrm>
            <a:off x="1162050" y="350520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71A17"/>
                </a:solidFill>
              </a:defRPr>
            </a:pPr>
            <a:r>
              <a:rPr sz="1875">
                <a:solidFill>
                  <a:srgbClr val="171A17"/>
                </a:solidFill>
              </a:rPr>
              <a:t>opencorvus | codex | claude-code</a:t>
            </a:r>
          </a:p>
        </p:txBody>
      </p:sp>
      <p:sp>
        <p:nvSpPr>
          <p:cNvPr id="9" name="rt-scheduler">
            <a:extLst>
              <a:ext uri="{FF2B5EF4-FFF2-40B4-BE49-F238E27FC236}">
                <a16:creationId xmlns:a16="http://schemas.microsoft.com/office/drawing/2014/main" id="{B7688D0A-E309-4E10-98A9-933036D252E8}"/>
              </a:ext>
            </a:extLst>
          </p:cNvPr>
          <p:cNvSpPr>
            <a:spLocks noGrp="1"/>
          </p:cNvSpPr>
          <p:nvPr/>
        </p:nvSpPr>
        <p:spPr>
          <a:xfrm>
            <a:off x="9248775" y="2712720"/>
            <a:ext cx="8162925" cy="311086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rt-scheduler-title">
            <a:extLst>
              <a:ext uri="{FF2B5EF4-FFF2-40B4-BE49-F238E27FC236}">
                <a16:creationId xmlns:a16="http://schemas.microsoft.com/office/drawing/2014/main" id="{817132AD-6C96-4BC7-9C4F-BCB5733B5691}"/>
              </a:ext>
            </a:extLst>
          </p:cNvPr>
          <p:cNvSpPr>
            <a:spLocks noGrp="1"/>
          </p:cNvSpPr>
          <p:nvPr/>
        </p:nvSpPr>
        <p:spPr>
          <a:xfrm>
            <a:off x="9544050" y="2971800"/>
            <a:ext cx="76009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F6F53"/>
                </a:solidFill>
              </a:defRPr>
            </a:pPr>
            <a:r>
              <a:rPr sz="2400" b="1">
                <a:solidFill>
                  <a:srgbClr val="2F6F53"/>
                </a:solidFill>
              </a:rPr>
              <a:t>Scheduler</a:t>
            </a:r>
          </a:p>
        </p:txBody>
      </p:sp>
      <p:sp>
        <p:nvSpPr>
          <p:cNvPr id="11" name="rt-scheduler-copy">
            <a:extLst>
              <a:ext uri="{FF2B5EF4-FFF2-40B4-BE49-F238E27FC236}">
                <a16:creationId xmlns:a16="http://schemas.microsoft.com/office/drawing/2014/main" id="{6727EF6D-75FD-4E0B-AA67-006B755EC5CF}"/>
              </a:ext>
            </a:extLst>
          </p:cNvPr>
          <p:cNvSpPr>
            <a:spLocks noGrp="1"/>
          </p:cNvSpPr>
          <p:nvPr/>
        </p:nvSpPr>
        <p:spPr>
          <a:xfrm>
            <a:off x="9544050" y="3505200"/>
            <a:ext cx="76009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TaskQueueService 位于 scheduler/task-queue-service.ts，被 bootstrap、TUI、route 和 executor 调用。</a:t>
            </a:r>
          </a:p>
        </p:txBody>
      </p:sp>
      <p:sp>
        <p:nvSpPr>
          <p:cNvPr id="12" name="rt-server">
            <a:extLst>
              <a:ext uri="{FF2B5EF4-FFF2-40B4-BE49-F238E27FC236}">
                <a16:creationId xmlns:a16="http://schemas.microsoft.com/office/drawing/2014/main" id="{BFCC99DC-C982-457D-A99A-418B9AE464CD}"/>
              </a:ext>
            </a:extLst>
          </p:cNvPr>
          <p:cNvSpPr>
            <a:spLocks noGrp="1"/>
          </p:cNvSpPr>
          <p:nvPr/>
        </p:nvSpPr>
        <p:spPr>
          <a:xfrm>
            <a:off x="876300" y="6033135"/>
            <a:ext cx="8162925" cy="311086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rt-server-title">
            <a:extLst>
              <a:ext uri="{FF2B5EF4-FFF2-40B4-BE49-F238E27FC236}">
                <a16:creationId xmlns:a16="http://schemas.microsoft.com/office/drawing/2014/main" id="{AC7E4627-9815-4A4A-8DAC-1E103EFE68BB}"/>
              </a:ext>
            </a:extLst>
          </p:cNvPr>
          <p:cNvSpPr>
            <a:spLocks noGrp="1"/>
          </p:cNvSpPr>
          <p:nvPr/>
        </p:nvSpPr>
        <p:spPr>
          <a:xfrm>
            <a:off x="1162050" y="6305550"/>
            <a:ext cx="76009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8A5A12"/>
                </a:solidFill>
              </a:defRPr>
            </a:pPr>
            <a:r>
              <a:rPr sz="2400" b="1">
                <a:solidFill>
                  <a:srgbClr val="8A5A12"/>
                </a:solidFill>
              </a:rPr>
              <a:t>Serve</a:t>
            </a:r>
          </a:p>
        </p:txBody>
      </p:sp>
      <p:sp>
        <p:nvSpPr>
          <p:cNvPr id="14" name="rt-server-copy">
            <a:extLst>
              <a:ext uri="{FF2B5EF4-FFF2-40B4-BE49-F238E27FC236}">
                <a16:creationId xmlns:a16="http://schemas.microsoft.com/office/drawing/2014/main" id="{9787230F-0012-4010-9CD3-5E97F6846095}"/>
              </a:ext>
            </a:extLst>
          </p:cNvPr>
          <p:cNvSpPr>
            <a:spLocks noGrp="1"/>
          </p:cNvSpPr>
          <p:nvPr/>
        </p:nvSpPr>
        <p:spPr>
          <a:xfrm>
            <a:off x="1162050" y="681990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本地启动形态以 opencorvus serve 为主，Overlay 通过本地 server 暴露。</a:t>
            </a:r>
          </a:p>
        </p:txBody>
      </p:sp>
      <p:sp>
        <p:nvSpPr>
          <p:cNvPr id="15" name="rt-api">
            <a:extLst>
              <a:ext uri="{FF2B5EF4-FFF2-40B4-BE49-F238E27FC236}">
                <a16:creationId xmlns:a16="http://schemas.microsoft.com/office/drawing/2014/main" id="{59AF1C87-2D57-47E3-99A0-DCE399B2F2C7}"/>
              </a:ext>
            </a:extLst>
          </p:cNvPr>
          <p:cNvSpPr>
            <a:spLocks noGrp="1"/>
          </p:cNvSpPr>
          <p:nvPr/>
        </p:nvSpPr>
        <p:spPr>
          <a:xfrm>
            <a:off x="9248775" y="6033135"/>
            <a:ext cx="8162925" cy="311086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rt-api-title">
            <a:extLst>
              <a:ext uri="{FF2B5EF4-FFF2-40B4-BE49-F238E27FC236}">
                <a16:creationId xmlns:a16="http://schemas.microsoft.com/office/drawing/2014/main" id="{6C81E666-C9F4-458D-ACC8-2D60AE968F19}"/>
              </a:ext>
            </a:extLst>
          </p:cNvPr>
          <p:cNvSpPr>
            <a:spLocks noGrp="1"/>
          </p:cNvSpPr>
          <p:nvPr/>
        </p:nvSpPr>
        <p:spPr>
          <a:xfrm>
            <a:off x="9544050" y="6305550"/>
            <a:ext cx="76009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9F3434"/>
                </a:solidFill>
              </a:defRPr>
            </a:pPr>
            <a:r>
              <a:rPr sz="2400" b="1">
                <a:solidFill>
                  <a:srgbClr val="9F3434"/>
                </a:solidFill>
              </a:rPr>
              <a:t>Task API</a:t>
            </a:r>
          </a:p>
        </p:txBody>
      </p:sp>
      <p:sp>
        <p:nvSpPr>
          <p:cNvPr id="17" name="rt-api-copy">
            <a:extLst>
              <a:ext uri="{FF2B5EF4-FFF2-40B4-BE49-F238E27FC236}">
                <a16:creationId xmlns:a16="http://schemas.microsoft.com/office/drawing/2014/main" id="{357E9243-4322-4BCF-A294-EB3432668818}"/>
              </a:ext>
            </a:extLst>
          </p:cNvPr>
          <p:cNvSpPr>
            <a:spLocks noGrp="1"/>
          </p:cNvSpPr>
          <p:nvPr/>
        </p:nvSpPr>
        <p:spPr>
          <a:xfrm>
            <a:off x="9544050" y="6819900"/>
            <a:ext cx="76009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POST /task、GET /tasks、GET /task/&lt;task_id&gt;/board、events、message、retry、replan、cancel。</a:t>
            </a:r>
          </a:p>
        </p:txBody>
      </p:sp>
      <p:sp>
        <p:nvSpPr>
          <p:cNvPr id="18" name="source-9">
            <a:extLst>
              <a:ext uri="{FF2B5EF4-FFF2-40B4-BE49-F238E27FC236}">
                <a16:creationId xmlns:a16="http://schemas.microsoft.com/office/drawing/2014/main" id="{F07C4700-81F4-414C-9229-E68689463C77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08</a:t>
            </a:r>
          </a:p>
        </p:txBody>
      </p:sp>
      <p:sp>
        <p:nvSpPr>
          <p:cNvPr id="19" name="page-9">
            <a:extLst>
              <a:ext uri="{FF2B5EF4-FFF2-40B4-BE49-F238E27FC236}">
                <a16:creationId xmlns:a16="http://schemas.microsoft.com/office/drawing/2014/main" id="{DECE9D47-3D91-47BE-8346-42913C0F61E2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916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nvas">
            <a:extLst>
              <a:ext uri="{FF2B5EF4-FFF2-40B4-BE49-F238E27FC236}">
                <a16:creationId xmlns:a16="http://schemas.microsoft.com/office/drawing/2014/main" id="{7B97FC3B-0CBC-4D1D-B8DF-B0F529012C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8F3"/>
          </a:solidFill>
        </p:spPr>
        <p:txBody>
          <a:bodyPr/>
          <a:lstStyle/>
          <a:p>
            <a:endParaRPr lang="en-GB"/>
          </a:p>
        </p:txBody>
      </p:sp>
      <p:sp>
        <p:nvSpPr>
          <p:cNvPr id="2" name="Limits And Next Work-rule">
            <a:extLst>
              <a:ext uri="{FF2B5EF4-FFF2-40B4-BE49-F238E27FC236}">
                <a16:creationId xmlns:a16="http://schemas.microsoft.com/office/drawing/2014/main" id="{85B2158D-13F2-48C3-A877-104694020B61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704850" cy="38100"/>
          </a:xfrm>
          <a:prstGeom prst="rect">
            <a:avLst/>
          </a:prstGeom>
          <a:solidFill>
            <a:srgbClr val="1D5F78"/>
          </a:solidFill>
          <a:ln w="0">
            <a:solidFill>
              <a:srgbClr val="1D5F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Limits And Next Work-label">
            <a:extLst>
              <a:ext uri="{FF2B5EF4-FFF2-40B4-BE49-F238E27FC236}">
                <a16:creationId xmlns:a16="http://schemas.microsoft.com/office/drawing/2014/main" id="{39C416CA-419A-4753-B657-B10270E61B3C}"/>
              </a:ext>
            </a:extLst>
          </p:cNvPr>
          <p:cNvSpPr>
            <a:spLocks noGrp="1"/>
          </p:cNvSpPr>
          <p:nvPr/>
        </p:nvSpPr>
        <p:spPr>
          <a:xfrm>
            <a:off x="1714500" y="6286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Limits And Next Work</a:t>
            </a:r>
          </a:p>
        </p:txBody>
      </p:sp>
      <p:sp>
        <p:nvSpPr>
          <p:cNvPr id="4" name="slide-title-10">
            <a:extLst>
              <a:ext uri="{FF2B5EF4-FFF2-40B4-BE49-F238E27FC236}">
                <a16:creationId xmlns:a16="http://schemas.microsoft.com/office/drawing/2014/main" id="{1544BBB1-612A-4D30-95D0-CE34892A0C9D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123444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71A17"/>
                </a:solidFill>
              </a:defRPr>
            </a:pPr>
            <a:r>
              <a:rPr sz="4050" b="1" dirty="0" err="1">
                <a:solidFill>
                  <a:srgbClr val="171A17"/>
                </a:solidFill>
              </a:rPr>
              <a:t>边界：项目已经形成闭环</a:t>
            </a:r>
            <a:endParaRPr sz="4050" b="1" dirty="0">
              <a:solidFill>
                <a:srgbClr val="171A17"/>
              </a:solidFill>
            </a:endParaRPr>
          </a:p>
        </p:txBody>
      </p:sp>
      <p:sp>
        <p:nvSpPr>
          <p:cNvPr id="5" name="slide-subtitle-10">
            <a:extLst>
              <a:ext uri="{FF2B5EF4-FFF2-40B4-BE49-F238E27FC236}">
                <a16:creationId xmlns:a16="http://schemas.microsoft.com/office/drawing/2014/main" id="{98291103-6D73-4BD7-BFE0-63349133F61F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867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下一阶段重点是稳定性基线、长任务验证、多人协作边界和公开材料清理。</a:t>
            </a:r>
          </a:p>
        </p:txBody>
      </p:sp>
      <p:sp>
        <p:nvSpPr>
          <p:cNvPr id="6" name="limit-b1-mark">
            <a:extLst>
              <a:ext uri="{FF2B5EF4-FFF2-40B4-BE49-F238E27FC236}">
                <a16:creationId xmlns:a16="http://schemas.microsoft.com/office/drawing/2014/main" id="{687EE7CD-7626-4195-AD04-B828F6EF8C34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95250" cy="95250"/>
          </a:xfrm>
          <a:prstGeom prst="rect">
            <a:avLst/>
          </a:prstGeom>
          <a:solidFill>
            <a:srgbClr val="1D5F78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limit-b1">
            <a:extLst>
              <a:ext uri="{FF2B5EF4-FFF2-40B4-BE49-F238E27FC236}">
                <a16:creationId xmlns:a16="http://schemas.microsoft.com/office/drawing/2014/main" id="{063069B0-45E8-4470-BBFC-04CE34A41B2E}"/>
              </a:ext>
            </a:extLst>
          </p:cNvPr>
          <p:cNvSpPr>
            <a:spLocks noGrp="1"/>
          </p:cNvSpPr>
          <p:nvPr/>
        </p:nvSpPr>
        <p:spPr>
          <a:xfrm>
            <a:off x="1123950" y="520065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Overlay 大规模任务列表性能需要固定 1k / 5k / 10k 任务量级基线。</a:t>
            </a:r>
          </a:p>
        </p:txBody>
      </p:sp>
      <p:sp>
        <p:nvSpPr>
          <p:cNvPr id="10" name="limit-b3-mark">
            <a:extLst>
              <a:ext uri="{FF2B5EF4-FFF2-40B4-BE49-F238E27FC236}">
                <a16:creationId xmlns:a16="http://schemas.microsoft.com/office/drawing/2014/main" id="{901DF5F2-F226-45BD-9247-AA1963C69493}"/>
              </a:ext>
            </a:extLst>
          </p:cNvPr>
          <p:cNvSpPr>
            <a:spLocks noGrp="1"/>
          </p:cNvSpPr>
          <p:nvPr/>
        </p:nvSpPr>
        <p:spPr>
          <a:xfrm>
            <a:off x="876300" y="5772150"/>
            <a:ext cx="95250" cy="95250"/>
          </a:xfrm>
          <a:prstGeom prst="rect">
            <a:avLst/>
          </a:prstGeom>
          <a:solidFill>
            <a:srgbClr val="8A5A1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limit-b3">
            <a:extLst>
              <a:ext uri="{FF2B5EF4-FFF2-40B4-BE49-F238E27FC236}">
                <a16:creationId xmlns:a16="http://schemas.microsoft.com/office/drawing/2014/main" id="{EB873435-E425-449E-BD5E-E1F1DE0BC11F}"/>
              </a:ext>
            </a:extLst>
          </p:cNvPr>
          <p:cNvSpPr>
            <a:spLocks noGrp="1"/>
          </p:cNvSpPr>
          <p:nvPr/>
        </p:nvSpPr>
        <p:spPr>
          <a:xfrm>
            <a:off x="1123950" y="577215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>
                <a:solidFill>
                  <a:srgbClr val="171A17"/>
                </a:solidFill>
              </a:rPr>
              <a:t>Gateway operator console </a:t>
            </a:r>
            <a:r>
              <a:rPr sz="1800" dirty="0" err="1">
                <a:solidFill>
                  <a:srgbClr val="171A17"/>
                </a:solidFill>
              </a:rPr>
              <a:t>已落地，后续需要明确多人协作和跨页面确认动作边界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sp>
        <p:nvSpPr>
          <p:cNvPr id="12" name="limit-b4-mark">
            <a:extLst>
              <a:ext uri="{FF2B5EF4-FFF2-40B4-BE49-F238E27FC236}">
                <a16:creationId xmlns:a16="http://schemas.microsoft.com/office/drawing/2014/main" id="{E28C018C-4D5B-4B7B-9BC7-517D46053CB0}"/>
              </a:ext>
            </a:extLst>
          </p:cNvPr>
          <p:cNvSpPr>
            <a:spLocks noGrp="1"/>
          </p:cNvSpPr>
          <p:nvPr/>
        </p:nvSpPr>
        <p:spPr>
          <a:xfrm>
            <a:off x="876300" y="6267450"/>
            <a:ext cx="95250" cy="95250"/>
          </a:xfrm>
          <a:prstGeom prst="rect">
            <a:avLst/>
          </a:prstGeom>
          <a:solidFill>
            <a:srgbClr val="9F3434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limit-b4">
            <a:extLst>
              <a:ext uri="{FF2B5EF4-FFF2-40B4-BE49-F238E27FC236}">
                <a16:creationId xmlns:a16="http://schemas.microsoft.com/office/drawing/2014/main" id="{78AEC03E-95DC-4E15-A9EF-9CAFAE0E0150}"/>
              </a:ext>
            </a:extLst>
          </p:cNvPr>
          <p:cNvSpPr>
            <a:spLocks noGrp="1"/>
          </p:cNvSpPr>
          <p:nvPr/>
        </p:nvSpPr>
        <p:spPr>
          <a:xfrm>
            <a:off x="1123950" y="626745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71A17"/>
                </a:solidFill>
              </a:defRPr>
            </a:pPr>
            <a:r>
              <a:rPr sz="1800" dirty="0" err="1">
                <a:solidFill>
                  <a:srgbClr val="171A17"/>
                </a:solidFill>
              </a:rPr>
              <a:t>公开入口以</a:t>
            </a:r>
            <a:r>
              <a:rPr sz="1800" dirty="0">
                <a:solidFill>
                  <a:srgbClr val="171A17"/>
                </a:solidFill>
              </a:rPr>
              <a:t> GitHub </a:t>
            </a:r>
            <a:r>
              <a:rPr sz="1800" dirty="0" err="1">
                <a:solidFill>
                  <a:srgbClr val="171A17"/>
                </a:solidFill>
              </a:rPr>
              <a:t>仓库为准，继续清理历史域名和历史命名残留</a:t>
            </a:r>
            <a:r>
              <a:rPr sz="1800" dirty="0">
                <a:solidFill>
                  <a:srgbClr val="171A17"/>
                </a:solidFill>
              </a:rPr>
              <a:t>。</a:t>
            </a:r>
          </a:p>
        </p:txBody>
      </p:sp>
      <p:sp>
        <p:nvSpPr>
          <p:cNvPr id="14" name="limits-closing">
            <a:extLst>
              <a:ext uri="{FF2B5EF4-FFF2-40B4-BE49-F238E27FC236}">
                <a16:creationId xmlns:a16="http://schemas.microsoft.com/office/drawing/2014/main" id="{BBD0FC45-9C75-4E52-9C5C-A2DFC44CD31C}"/>
              </a:ext>
            </a:extLst>
          </p:cNvPr>
          <p:cNvSpPr>
            <a:spLocks noGrp="1"/>
          </p:cNvSpPr>
          <p:nvPr/>
        </p:nvSpPr>
        <p:spPr>
          <a:xfrm>
            <a:off x="9750592" y="3044190"/>
            <a:ext cx="7661108" cy="6099810"/>
          </a:xfrm>
          <a:prstGeom prst="rect">
            <a:avLst/>
          </a:prstGeom>
          <a:solidFill>
            <a:srgbClr val="15313A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limits-closing-label">
            <a:extLst>
              <a:ext uri="{FF2B5EF4-FFF2-40B4-BE49-F238E27FC236}">
                <a16:creationId xmlns:a16="http://schemas.microsoft.com/office/drawing/2014/main" id="{3CF249E3-11D3-4D82-B852-C9B774B64770}"/>
              </a:ext>
            </a:extLst>
          </p:cNvPr>
          <p:cNvSpPr>
            <a:spLocks noGrp="1"/>
          </p:cNvSpPr>
          <p:nvPr/>
        </p:nvSpPr>
        <p:spPr>
          <a:xfrm>
            <a:off x="10153650" y="537210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9FC9D4"/>
                </a:solidFill>
              </a:defRPr>
            </a:pPr>
            <a:r>
              <a:rPr sz="1650" b="1">
                <a:solidFill>
                  <a:srgbClr val="9FC9D4"/>
                </a:solidFill>
              </a:rPr>
              <a:t>合理定位</a:t>
            </a:r>
          </a:p>
        </p:txBody>
      </p:sp>
      <p:sp>
        <p:nvSpPr>
          <p:cNvPr id="16" name="limits-closing-copy">
            <a:extLst>
              <a:ext uri="{FF2B5EF4-FFF2-40B4-BE49-F238E27FC236}">
                <a16:creationId xmlns:a16="http://schemas.microsoft.com/office/drawing/2014/main" id="{25780993-C9D2-461B-87D8-77E26E2AB8DB}"/>
              </a:ext>
            </a:extLst>
          </p:cNvPr>
          <p:cNvSpPr>
            <a:spLocks noGrp="1"/>
          </p:cNvSpPr>
          <p:nvPr/>
        </p:nvSpPr>
        <p:spPr>
          <a:xfrm>
            <a:off x="10153650" y="5867400"/>
            <a:ext cx="685800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lang="en-GB" sz="3150" b="1" dirty="0">
                <a:solidFill>
                  <a:srgbClr val="FFFFFF"/>
                </a:solidFill>
              </a:rPr>
              <a:t>Goal</a:t>
            </a:r>
            <a:r>
              <a:rPr lang="zh-CN" altLang="en-US" sz="3150" b="1" dirty="0">
                <a:solidFill>
                  <a:srgbClr val="FFFFFF"/>
                </a:solidFill>
              </a:rPr>
              <a:t>分解</a:t>
            </a:r>
            <a:r>
              <a:rPr sz="3150" b="1" dirty="0">
                <a:solidFill>
                  <a:srgbClr val="FFFFFF"/>
                </a:solidFill>
              </a:rPr>
              <a:t>、</a:t>
            </a:r>
            <a:r>
              <a:rPr sz="3150" b="1" dirty="0" err="1">
                <a:solidFill>
                  <a:srgbClr val="FFFFFF"/>
                </a:solidFill>
              </a:rPr>
              <a:t>以任务事实和验收证据为中心的代码交付编排系统</a:t>
            </a:r>
            <a:r>
              <a:rPr sz="3150" b="1" dirty="0">
                <a:solidFill>
                  <a:srgbClr val="FFFFFF"/>
                </a:solidFill>
              </a:rPr>
              <a:t>。</a:t>
            </a:r>
          </a:p>
        </p:txBody>
      </p:sp>
      <p:sp>
        <p:nvSpPr>
          <p:cNvPr id="17" name="source-10">
            <a:extLst>
              <a:ext uri="{FF2B5EF4-FFF2-40B4-BE49-F238E27FC236}">
                <a16:creationId xmlns:a16="http://schemas.microsoft.com/office/drawing/2014/main" id="{E13F8BA4-F3D8-48EE-9C7B-BE05BF310CAA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1219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09</a:t>
            </a:r>
          </a:p>
        </p:txBody>
      </p:sp>
      <p:sp>
        <p:nvSpPr>
          <p:cNvPr id="18" name="page-10">
            <a:extLst>
              <a:ext uri="{FF2B5EF4-FFF2-40B4-BE49-F238E27FC236}">
                <a16:creationId xmlns:a16="http://schemas.microsoft.com/office/drawing/2014/main" id="{D638FCE7-817B-4D52-BD3F-0BC89F66FD04}"/>
              </a:ext>
            </a:extLst>
          </p:cNvPr>
          <p:cNvSpPr>
            <a:spLocks noGrp="1"/>
          </p:cNvSpPr>
          <p:nvPr/>
        </p:nvSpPr>
        <p:spPr>
          <a:xfrm>
            <a:off x="16897350" y="9448800"/>
            <a:ext cx="514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3744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05F292-960B-B682-B01C-DB360582D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828800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10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E17A9-DF7F-FD6D-7CA8-1BD698E88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828800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9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15D10-1886-6897-63D8-6DFF84C85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828800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05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771</Words>
  <Application>Microsoft Office PowerPoint</Application>
  <DocSecurity>0</DocSecurity>
  <PresentationFormat>Custom</PresentationFormat>
  <Paragraphs>132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Yang, Heng</cp:lastModifiedBy>
  <cp:revision>5</cp:revision>
  <dcterms:created xsi:type="dcterms:W3CDTF">2026-05-15T04:10:09Z</dcterms:created>
  <dcterms:modified xsi:type="dcterms:W3CDTF">2026-05-15T04:46:24Z</dcterms:modified>
</cp:coreProperties>
</file>